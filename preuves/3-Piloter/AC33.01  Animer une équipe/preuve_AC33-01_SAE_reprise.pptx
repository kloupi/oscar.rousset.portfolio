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9601200"/>
  <p:notesSz cx="96012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A1878B-186D-4A14-BD1B-987FE4A93D3A}" v="1" dt="2026-06-17T09:12:58.6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15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car Rousset" userId="438b0d8ad050c8f0" providerId="LiveId" clId="{F67C558F-9AD8-4E43-8CEB-EE30BAE507D4}"/>
    <pc:docChg chg="modSld">
      <pc:chgData name="Oscar Rousset" userId="438b0d8ad050c8f0" providerId="LiveId" clId="{F67C558F-9AD8-4E43-8CEB-EE30BAE507D4}" dt="2026-06-17T09:14:25.196" v="26" actId="6549"/>
      <pc:docMkLst>
        <pc:docMk/>
      </pc:docMkLst>
      <pc:sldChg chg="modSp mod">
        <pc:chgData name="Oscar Rousset" userId="438b0d8ad050c8f0" providerId="LiveId" clId="{F67C558F-9AD8-4E43-8CEB-EE30BAE507D4}" dt="2026-06-17T09:14:25.196" v="26" actId="6549"/>
        <pc:sldMkLst>
          <pc:docMk/>
          <pc:sldMk cId="0" sldId="256"/>
        </pc:sldMkLst>
        <pc:spChg chg="mod">
          <ac:chgData name="Oscar Rousset" userId="438b0d8ad050c8f0" providerId="LiveId" clId="{F67C558F-9AD8-4E43-8CEB-EE30BAE507D4}" dt="2026-06-17T09:14:25.196" v="26" actId="6549"/>
          <ac:spMkLst>
            <pc:docMk/>
            <pc:sldMk cId="0" sldId="256"/>
            <ac:spMk id="8" creationId="{00000000-0000-0000-0000-000000000000}"/>
          </ac:spMkLst>
        </pc:spChg>
        <pc:spChg chg="mod">
          <ac:chgData name="Oscar Rousset" userId="438b0d8ad050c8f0" providerId="LiveId" clId="{F67C558F-9AD8-4E43-8CEB-EE30BAE507D4}" dt="2026-06-17T09:12:58.615" v="0"/>
          <ac:spMkLst>
            <pc:docMk/>
            <pc:sldMk cId="0" sldId="256"/>
            <ac:spMk id="3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5970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335024"/>
          </a:xfrm>
          <a:prstGeom prst="rect">
            <a:avLst/>
          </a:prstGeom>
          <a:solidFill>
            <a:srgbClr val="1F30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47472" y="164592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PILOTER   ·   ANIMER UNE ÉQUIPE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420624"/>
            <a:ext cx="5669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Mettre son expertise immobilière au service de l'équipe pour prendre le lead sur la SAE reprise d'agence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870448" y="493776"/>
            <a:ext cx="822960" cy="384048"/>
          </a:xfrm>
          <a:prstGeom prst="roundRect">
            <a:avLst>
              <a:gd name="adj" fmla="val 16667"/>
            </a:avLst>
          </a:prstGeom>
          <a:solidFill>
            <a:srgbClr val="65B8B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870448" y="49377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AC33.01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1463040"/>
            <a:ext cx="6163056" cy="457200"/>
          </a:xfrm>
          <a:prstGeom prst="roundRect">
            <a:avLst>
              <a:gd name="adj" fmla="val 14000"/>
            </a:avLst>
          </a:prstGeom>
          <a:solidFill>
            <a:srgbClr val="E9ECF7"/>
          </a:solidFill>
          <a:ln w="12700">
            <a:solidFill>
              <a:srgbClr val="D2D8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75488" y="14630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95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 Reprise</a:t>
            </a: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Projet de groupe : dossier complet de reprise de MONAP Immobilier (valorisation DCF, financement, ratios). </a:t>
            </a:r>
            <a:r>
              <a:rPr lang="en-US" sz="950" dirty="0" err="1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Mobilisation</a:t>
            </a: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50" dirty="0" err="1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</a:t>
            </a: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agence immobilière pour animer le groupe et prendre le lead intellectuel.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7472" y="20299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J'AI ANIMÉ L'ÉQUIPE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" y="2322576"/>
            <a:ext cx="1883664" cy="2249424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47472" y="2322576"/>
            <a:ext cx="1883664" cy="438912"/>
          </a:xfrm>
          <a:prstGeom prst="roundRect">
            <a:avLst>
              <a:gd name="adj" fmla="val 18750"/>
            </a:avLst>
          </a:prstGeom>
          <a:solidFill>
            <a:srgbClr val="1F30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47472" y="2542032"/>
            <a:ext cx="1883664" cy="219456"/>
          </a:xfrm>
          <a:prstGeom prst="rect">
            <a:avLst/>
          </a:prstGeom>
          <a:solidFill>
            <a:srgbClr val="1F308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414016"/>
            <a:ext cx="292608" cy="29260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8912" y="2834640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référent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38912" y="3054096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8A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savoir qui légitime le leadership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30352" y="3236976"/>
            <a:ext cx="1517904" cy="0"/>
          </a:xfrm>
          <a:prstGeom prst="line">
            <a:avLst/>
          </a:prstGeom>
          <a:noFill/>
          <a:ln w="9525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475488" y="3310128"/>
            <a:ext cx="1627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9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 membre avec une expérience en agence immobilière → expliquer les réalités métier (honoraires, BFR sectoriel, saisonnalité) et valider les hypothèses financières avant soumission.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350008" y="2322576"/>
            <a:ext cx="1883664" cy="2249424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2350008" y="2322576"/>
            <a:ext cx="1883664" cy="438912"/>
          </a:xfrm>
          <a:prstGeom prst="roundRect">
            <a:avLst>
              <a:gd name="adj" fmla="val 18750"/>
            </a:avLst>
          </a:prstGeom>
          <a:solidFill>
            <a:srgbClr val="B882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7"/>
          <p:cNvSpPr/>
          <p:nvPr/>
        </p:nvSpPr>
        <p:spPr>
          <a:xfrm>
            <a:off x="2350008" y="2542032"/>
            <a:ext cx="1883664" cy="219456"/>
          </a:xfrm>
          <a:prstGeom prst="rect">
            <a:avLst/>
          </a:prstGeom>
          <a:solidFill>
            <a:srgbClr val="B8821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5536" y="2414016"/>
            <a:ext cx="292608" cy="29260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441448" y="2834640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initial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2441448" y="3054096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8A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Orienter sans imposer</a:t>
            </a:r>
            <a:endParaRPr lang="en-US" sz="750" dirty="0"/>
          </a:p>
        </p:txBody>
      </p:sp>
      <p:sp>
        <p:nvSpPr>
          <p:cNvPr id="24" name="Shape 20"/>
          <p:cNvSpPr/>
          <p:nvPr/>
        </p:nvSpPr>
        <p:spPr>
          <a:xfrm>
            <a:off x="2532888" y="3236976"/>
            <a:ext cx="1517904" cy="0"/>
          </a:xfrm>
          <a:prstGeom prst="line">
            <a:avLst/>
          </a:prstGeom>
          <a:noFill/>
          <a:ln w="9525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1"/>
          <p:cNvSpPr/>
          <p:nvPr/>
        </p:nvSpPr>
        <p:spPr>
          <a:xfrm>
            <a:off x="2478024" y="3310128"/>
            <a:ext cx="1627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9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en charge du lancement : définition de la problématique, identification des livrables (DCF, plan de financement, ratios), attribution des parties. Chaque membre savait quoi produire et pourquoi.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4352544" y="2322576"/>
            <a:ext cx="1883664" cy="2249424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3"/>
          <p:cNvSpPr/>
          <p:nvPr/>
        </p:nvSpPr>
        <p:spPr>
          <a:xfrm>
            <a:off x="4352544" y="2322576"/>
            <a:ext cx="1883664" cy="438912"/>
          </a:xfrm>
          <a:prstGeom prst="roundRect">
            <a:avLst>
              <a:gd name="adj" fmla="val 18750"/>
            </a:avLst>
          </a:prstGeom>
          <a:solidFill>
            <a:srgbClr val="2E7A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4"/>
          <p:cNvSpPr/>
          <p:nvPr/>
        </p:nvSpPr>
        <p:spPr>
          <a:xfrm>
            <a:off x="4352544" y="2542032"/>
            <a:ext cx="1883664" cy="219456"/>
          </a:xfrm>
          <a:prstGeom prst="rect">
            <a:avLst/>
          </a:prstGeom>
          <a:solidFill>
            <a:srgbClr val="2E7A5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8072" y="2414016"/>
            <a:ext cx="292608" cy="29260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443984" y="2834640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validé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4443984" y="3054096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8A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groupe a atteint son objectif</a:t>
            </a:r>
            <a:endParaRPr lang="en-US" sz="750" dirty="0"/>
          </a:p>
        </p:txBody>
      </p:sp>
      <p:sp>
        <p:nvSpPr>
          <p:cNvPr id="32" name="Shape 27"/>
          <p:cNvSpPr/>
          <p:nvPr/>
        </p:nvSpPr>
        <p:spPr>
          <a:xfrm>
            <a:off x="4535424" y="3236976"/>
            <a:ext cx="1517904" cy="0"/>
          </a:xfrm>
          <a:prstGeom prst="line">
            <a:avLst/>
          </a:prstGeom>
          <a:noFill/>
          <a:ln w="9525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28"/>
          <p:cNvSpPr/>
          <p:nvPr/>
        </p:nvSpPr>
        <p:spPr>
          <a:xfrm>
            <a:off x="4480560" y="3310128"/>
            <a:ext cx="1627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9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Excellente note finale. La professeure a salué la qualité et la cohérence du dossier - confirmation que le leadership exercé a permis une production collective solide et articulée.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347472" y="4663440"/>
            <a:ext cx="6163056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0"/>
          <p:cNvSpPr/>
          <p:nvPr/>
        </p:nvSpPr>
        <p:spPr>
          <a:xfrm>
            <a:off x="347472" y="47548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&amp; RÉPONSES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347472" y="5010912"/>
            <a:ext cx="2688336" cy="329184"/>
          </a:xfrm>
          <a:prstGeom prst="roundRect">
            <a:avLst>
              <a:gd name="adj" fmla="val 19444"/>
            </a:avLst>
          </a:prstGeom>
          <a:solidFill>
            <a:srgbClr val="60247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5074920"/>
            <a:ext cx="182880" cy="18288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731520" y="5010912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DÉFI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3255264" y="5010912"/>
            <a:ext cx="3255264" cy="329184"/>
          </a:xfrm>
          <a:prstGeom prst="roundRect">
            <a:avLst>
              <a:gd name="adj" fmla="val 19444"/>
            </a:avLst>
          </a:prstGeom>
          <a:solidFill>
            <a:srgbClr val="65B8B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5074920"/>
            <a:ext cx="182880" cy="18288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3639312" y="5010912"/>
            <a:ext cx="2798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RÉPONSE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347472" y="5431536"/>
            <a:ext cx="2688336" cy="960120"/>
          </a:xfrm>
          <a:prstGeom prst="roundRect">
            <a:avLst>
              <a:gd name="adj" fmla="val 6667"/>
            </a:avLst>
          </a:prstGeom>
          <a:solidFill>
            <a:srgbClr val="ECE5F1"/>
          </a:solidFill>
          <a:ln w="12700">
            <a:solidFill>
              <a:srgbClr val="DCD0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36"/>
          <p:cNvSpPr/>
          <p:nvPr/>
        </p:nvSpPr>
        <p:spPr>
          <a:xfrm>
            <a:off x="475488" y="5504688"/>
            <a:ext cx="245059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9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ancrage métier, les hypothèses financières risquent d'être théoriques et déconnectées des réalités du secteur immobilier.</a:t>
            </a:r>
            <a:endParaRPr lang="en-US" sz="900" dirty="0"/>
          </a:p>
        </p:txBody>
      </p:sp>
      <p:sp>
        <p:nvSpPr>
          <p:cNvPr id="44" name="Text 37"/>
          <p:cNvSpPr/>
          <p:nvPr/>
        </p:nvSpPr>
        <p:spPr>
          <a:xfrm>
            <a:off x="3054096" y="5431536"/>
            <a:ext cx="1463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3255264" y="5431536"/>
            <a:ext cx="3255264" cy="960120"/>
          </a:xfrm>
          <a:prstGeom prst="roundRect">
            <a:avLst>
              <a:gd name="adj" fmla="val 6667"/>
            </a:avLst>
          </a:prstGeom>
          <a:solidFill>
            <a:srgbClr val="E4F1F0"/>
          </a:solidFill>
          <a:ln w="12700">
            <a:solidFill>
              <a:srgbClr val="C9E2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39"/>
          <p:cNvSpPr/>
          <p:nvPr/>
        </p:nvSpPr>
        <p:spPr>
          <a:xfrm>
            <a:off x="3383280" y="5504688"/>
            <a:ext cx="30175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9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d'expert assumé : partage des réalités terrain (délais d'encaissement, cycles saisonniers, honoraires) pour ancrer le dossier dans le concret.</a:t>
            </a:r>
            <a:endParaRPr lang="en-US" sz="900" dirty="0"/>
          </a:p>
        </p:txBody>
      </p:sp>
      <p:sp>
        <p:nvSpPr>
          <p:cNvPr id="47" name="Shape 40"/>
          <p:cNvSpPr/>
          <p:nvPr/>
        </p:nvSpPr>
        <p:spPr>
          <a:xfrm>
            <a:off x="347472" y="6473952"/>
            <a:ext cx="2688336" cy="960120"/>
          </a:xfrm>
          <a:prstGeom prst="roundRect">
            <a:avLst>
              <a:gd name="adj" fmla="val 6667"/>
            </a:avLst>
          </a:prstGeom>
          <a:solidFill>
            <a:srgbClr val="ECE5F1"/>
          </a:solidFill>
          <a:ln w="12700">
            <a:solidFill>
              <a:srgbClr val="DCD0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1"/>
          <p:cNvSpPr/>
          <p:nvPr/>
        </p:nvSpPr>
        <p:spPr>
          <a:xfrm>
            <a:off x="475488" y="6547104"/>
            <a:ext cx="245059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9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sans légitimité reconnue = résistance du groupe. Le leadership doit être utile avant d'être exercé.</a:t>
            </a:r>
            <a:endParaRPr lang="en-US" sz="900" dirty="0"/>
          </a:p>
        </p:txBody>
      </p:sp>
      <p:sp>
        <p:nvSpPr>
          <p:cNvPr id="49" name="Text 42"/>
          <p:cNvSpPr/>
          <p:nvPr/>
        </p:nvSpPr>
        <p:spPr>
          <a:xfrm>
            <a:off x="3054096" y="6473952"/>
            <a:ext cx="1463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100" dirty="0"/>
          </a:p>
        </p:txBody>
      </p:sp>
      <p:sp>
        <p:nvSpPr>
          <p:cNvPr id="50" name="Shape 43"/>
          <p:cNvSpPr/>
          <p:nvPr/>
        </p:nvSpPr>
        <p:spPr>
          <a:xfrm>
            <a:off x="3255264" y="6473952"/>
            <a:ext cx="3255264" cy="960120"/>
          </a:xfrm>
          <a:prstGeom prst="roundRect">
            <a:avLst>
              <a:gd name="adj" fmla="val 6667"/>
            </a:avLst>
          </a:prstGeom>
          <a:solidFill>
            <a:srgbClr val="E4F1F0"/>
          </a:solidFill>
          <a:ln w="12700">
            <a:solidFill>
              <a:srgbClr val="C9E2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4"/>
          <p:cNvSpPr/>
          <p:nvPr/>
        </p:nvSpPr>
        <p:spPr>
          <a:xfrm>
            <a:off x="3383280" y="6547104"/>
            <a:ext cx="30175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9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par la valeur ajoutée : expertise mise au service du groupe, pas au-dessus. L'équipe a suivi parce que ça lui était utile.</a:t>
            </a:r>
            <a:endParaRPr lang="en-US" sz="900" dirty="0"/>
          </a:p>
        </p:txBody>
      </p:sp>
      <p:sp>
        <p:nvSpPr>
          <p:cNvPr id="52" name="Shape 45"/>
          <p:cNvSpPr/>
          <p:nvPr/>
        </p:nvSpPr>
        <p:spPr>
          <a:xfrm>
            <a:off x="347472" y="7516368"/>
            <a:ext cx="2688336" cy="960120"/>
          </a:xfrm>
          <a:prstGeom prst="roundRect">
            <a:avLst>
              <a:gd name="adj" fmla="val 6667"/>
            </a:avLst>
          </a:prstGeom>
          <a:solidFill>
            <a:srgbClr val="ECE5F1"/>
          </a:solidFill>
          <a:ln w="12700">
            <a:solidFill>
              <a:srgbClr val="DCD0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46"/>
          <p:cNvSpPr/>
          <p:nvPr/>
        </p:nvSpPr>
        <p:spPr>
          <a:xfrm>
            <a:off x="475488" y="7589520"/>
            <a:ext cx="245059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9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ambitieux = risque de dispersion si personne ne coordonne l'architecture globale du dossier.</a:t>
            </a:r>
            <a:endParaRPr lang="en-US" sz="900" dirty="0"/>
          </a:p>
        </p:txBody>
      </p:sp>
      <p:sp>
        <p:nvSpPr>
          <p:cNvPr id="54" name="Text 47"/>
          <p:cNvSpPr/>
          <p:nvPr/>
        </p:nvSpPr>
        <p:spPr>
          <a:xfrm>
            <a:off x="3054096" y="7516368"/>
            <a:ext cx="1463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100" dirty="0"/>
          </a:p>
        </p:txBody>
      </p:sp>
      <p:sp>
        <p:nvSpPr>
          <p:cNvPr id="55" name="Shape 48"/>
          <p:cNvSpPr/>
          <p:nvPr/>
        </p:nvSpPr>
        <p:spPr>
          <a:xfrm>
            <a:off x="3255264" y="7516368"/>
            <a:ext cx="3255264" cy="960120"/>
          </a:xfrm>
          <a:prstGeom prst="roundRect">
            <a:avLst>
              <a:gd name="adj" fmla="val 6667"/>
            </a:avLst>
          </a:prstGeom>
          <a:solidFill>
            <a:srgbClr val="E4F1F0"/>
          </a:solidFill>
          <a:ln w="12700">
            <a:solidFill>
              <a:srgbClr val="C9E2D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49"/>
          <p:cNvSpPr/>
          <p:nvPr/>
        </p:nvSpPr>
        <p:spPr>
          <a:xfrm>
            <a:off x="3383280" y="7589520"/>
            <a:ext cx="30175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7000"/>
              </a:lnSpc>
              <a:buNone/>
            </a:pPr>
            <a:r>
              <a:rPr lang="en-US" sz="90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structurant dès le lancement : chaque membre connaissait sa partie et son lien avec l'ensemble → dossier cohérent, sans doublon.</a:t>
            </a:r>
            <a:endParaRPr lang="en-US" sz="900" dirty="0"/>
          </a:p>
        </p:txBody>
      </p:sp>
      <p:sp>
        <p:nvSpPr>
          <p:cNvPr id="57" name="Shape 50"/>
          <p:cNvSpPr/>
          <p:nvPr/>
        </p:nvSpPr>
        <p:spPr>
          <a:xfrm>
            <a:off x="0" y="9162288"/>
            <a:ext cx="6858000" cy="438912"/>
          </a:xfrm>
          <a:prstGeom prst="rect">
            <a:avLst/>
          </a:prstGeom>
          <a:solidFill>
            <a:srgbClr val="400C6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Shape 51"/>
          <p:cNvSpPr/>
          <p:nvPr/>
        </p:nvSpPr>
        <p:spPr>
          <a:xfrm>
            <a:off x="347472" y="9244584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65B8B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Text 52"/>
          <p:cNvSpPr/>
          <p:nvPr/>
        </p:nvSpPr>
        <p:spPr>
          <a:xfrm>
            <a:off x="347472" y="92445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AC33.01</a:t>
            </a:r>
            <a:endParaRPr lang="en-US" sz="850" dirty="0"/>
          </a:p>
        </p:txBody>
      </p:sp>
      <p:sp>
        <p:nvSpPr>
          <p:cNvPr id="60" name="Text 53"/>
          <p:cNvSpPr/>
          <p:nvPr/>
        </p:nvSpPr>
        <p:spPr>
          <a:xfrm>
            <a:off x="1371600" y="9162288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Animer une équipe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</Words>
  <Application>Microsoft Office PowerPoint</Application>
  <PresentationFormat>Custom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Oscar Rousset</cp:lastModifiedBy>
  <cp:revision>1</cp:revision>
  <dcterms:created xsi:type="dcterms:W3CDTF">2026-06-16T22:14:06Z</dcterms:created>
  <dcterms:modified xsi:type="dcterms:W3CDTF">2026-06-17T09:14:36Z</dcterms:modified>
</cp:coreProperties>
</file>