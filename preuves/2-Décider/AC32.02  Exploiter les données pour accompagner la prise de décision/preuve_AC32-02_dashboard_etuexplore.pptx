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84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DÉCIDER   ·   EXPLOITER LES DONNÉES POUR ACCOMPAGNER LA PRISE DE DÉCISION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Lire chaque indicateur Etu'Explore comme une décision : poursuivre ce qui dépasse la cible, corriger ce qui s'en éloigne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378440" y="457200"/>
            <a:ext cx="1307592" cy="457200"/>
          </a:xfrm>
          <a:prstGeom prst="roundRect">
            <a:avLst>
              <a:gd name="adj" fmla="val 20000"/>
            </a:avLst>
          </a:prstGeom>
          <a:solidFill>
            <a:srgbClr val="65B8B4"/>
          </a:solidFill>
          <a:ln w="12700">
            <a:solidFill>
              <a:srgbClr val="65B8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378440" y="4572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AC32.02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11183112" cy="530352"/>
          </a:xfrm>
          <a:prstGeom prst="roundRect">
            <a:avLst>
              <a:gd name="adj" fmla="val 12069"/>
            </a:avLst>
          </a:prstGeom>
          <a:solidFill>
            <a:srgbClr val="E9ECF7"/>
          </a:solidFill>
          <a:ln w="12700">
            <a:solidFill>
              <a:srgbClr val="D2D8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1499616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 </a:t>
            </a:r>
            <a:r>
              <a:rPr lang="en-US" sz="12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</a:t>
            </a:r>
            <a:r>
              <a:rPr lang="en-US" sz="1250" b="1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Etu'Explore</a:t>
            </a:r>
            <a:r>
              <a:rPr lang="en-US" sz="12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(plateforme web de balades étudiantes à Paris) : tableau de bord interactif construit </a:t>
            </a:r>
            <a:r>
              <a:rPr lang="en-US" sz="1250" b="1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en autonomie</a:t>
            </a:r>
            <a:r>
              <a:rPr lang="en-US" sz="12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transformer les données d'usage en décisions d'équipe.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" y="2103120"/>
            <a:ext cx="5276088" cy="4295314"/>
          </a:xfrm>
          <a:prstGeom prst="roundRect">
            <a:avLst>
              <a:gd name="adj" fmla="val 1703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0" descr="/home/claude/preuve_ac3202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57984"/>
            <a:ext cx="5166360" cy="38381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603267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000" b="1" dirty="0" err="1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interactif</a:t>
            </a:r>
            <a:r>
              <a:rPr lang="en-US" sz="10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- 5 indicateurs suivis  </a:t>
            </a:r>
            <a:r>
              <a:rPr lang="en-US" sz="950" i="1" dirty="0">
                <a:solidFill>
                  <a:srgbClr val="6A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dont 3 avec objectif cible explicite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2157984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LA DÉCISION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0" y="2468880"/>
            <a:ext cx="574243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071616" y="2578608"/>
            <a:ext cx="457200" cy="457200"/>
          </a:xfrm>
          <a:prstGeom prst="ellipse">
            <a:avLst/>
          </a:prstGeom>
          <a:solidFill>
            <a:srgbClr val="2E7A5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060" y="2697480"/>
            <a:ext cx="205740" cy="2057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38544" y="252374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visites sur 13 jours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638544" y="2816352"/>
            <a:ext cx="1463040" cy="219456"/>
          </a:xfrm>
          <a:prstGeom prst="roundRect">
            <a:avLst>
              <a:gd name="adj" fmla="val 20833"/>
            </a:avLst>
          </a:prstGeom>
          <a:solidFill>
            <a:srgbClr val="E1F0E8"/>
          </a:solidFill>
          <a:ln w="9525">
            <a:solidFill>
              <a:srgbClr val="C9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6638544" y="28163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2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 FORTE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8156448" y="2798064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en fin de période → poursuivre la stratégie d'acquisition en cours.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5943600" y="3209544"/>
            <a:ext cx="574243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6071616" y="3319272"/>
            <a:ext cx="457200" cy="457200"/>
          </a:xfrm>
          <a:prstGeom prst="ellipse">
            <a:avLst/>
          </a:prstGeom>
          <a:solidFill>
            <a:srgbClr val="2E7A5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060" y="3438144"/>
            <a:ext cx="205740" cy="2057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38544" y="3264408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comptes créés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638544" y="3557016"/>
            <a:ext cx="1463040" cy="219456"/>
          </a:xfrm>
          <a:prstGeom prst="roundRect">
            <a:avLst>
              <a:gd name="adj" fmla="val 20833"/>
            </a:avLst>
          </a:prstGeom>
          <a:solidFill>
            <a:srgbClr val="E1F0E8"/>
          </a:solidFill>
          <a:ln w="9525">
            <a:solidFill>
              <a:srgbClr val="C9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0"/>
          <p:cNvSpPr/>
          <p:nvPr/>
        </p:nvSpPr>
        <p:spPr>
          <a:xfrm>
            <a:off x="6638544" y="35570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2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OK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8156448" y="353872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2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Visiteurs → membres confirmé → industrialiser l'onboarding actuel.</a:t>
            </a:r>
            <a:endParaRPr lang="en-US" sz="930" dirty="0"/>
          </a:p>
        </p:txBody>
      </p:sp>
      <p:sp>
        <p:nvSpPr>
          <p:cNvPr id="27" name="Shape 22"/>
          <p:cNvSpPr/>
          <p:nvPr/>
        </p:nvSpPr>
        <p:spPr>
          <a:xfrm>
            <a:off x="5943600" y="3950208"/>
            <a:ext cx="574243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3"/>
          <p:cNvSpPr/>
          <p:nvPr/>
        </p:nvSpPr>
        <p:spPr>
          <a:xfrm>
            <a:off x="6071616" y="4059936"/>
            <a:ext cx="457200" cy="457200"/>
          </a:xfrm>
          <a:prstGeom prst="ellipse">
            <a:avLst/>
          </a:prstGeom>
          <a:solidFill>
            <a:srgbClr val="B8821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060" y="4178808"/>
            <a:ext cx="205740" cy="2057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638544" y="4005072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4,25 / 4,5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note moyenne (cible 4,5)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638544" y="4297680"/>
            <a:ext cx="1463040" cy="219456"/>
          </a:xfrm>
          <a:prstGeom prst="roundRect">
            <a:avLst>
              <a:gd name="adj" fmla="val 20833"/>
            </a:avLst>
          </a:prstGeom>
          <a:solidFill>
            <a:srgbClr val="FBF1DC"/>
          </a:solidFill>
          <a:ln w="9525">
            <a:solidFill>
              <a:srgbClr val="E8D9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6"/>
          <p:cNvSpPr/>
          <p:nvPr/>
        </p:nvSpPr>
        <p:spPr>
          <a:xfrm>
            <a:off x="6638544" y="42976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PROCHE, NON ATTEINT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8156448" y="427939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balades sous-notées et réviser les fiches concernées.</a:t>
            </a:r>
            <a:endParaRPr lang="en-US" sz="930" dirty="0"/>
          </a:p>
        </p:txBody>
      </p:sp>
      <p:sp>
        <p:nvSpPr>
          <p:cNvPr id="34" name="Shape 28"/>
          <p:cNvSpPr/>
          <p:nvPr/>
        </p:nvSpPr>
        <p:spPr>
          <a:xfrm>
            <a:off x="5943600" y="4690872"/>
            <a:ext cx="574243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29"/>
          <p:cNvSpPr/>
          <p:nvPr/>
        </p:nvSpPr>
        <p:spPr>
          <a:xfrm>
            <a:off x="6071616" y="4800600"/>
            <a:ext cx="457200" cy="457200"/>
          </a:xfrm>
          <a:prstGeom prst="ellipse">
            <a:avLst/>
          </a:prstGeom>
          <a:solidFill>
            <a:srgbClr val="B8821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5060" y="4919472"/>
            <a:ext cx="205740" cy="2057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638544" y="474573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1,9 / 2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challenges / membre (cible)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6638544" y="5038344"/>
            <a:ext cx="1463040" cy="219456"/>
          </a:xfrm>
          <a:prstGeom prst="roundRect">
            <a:avLst>
              <a:gd name="adj" fmla="val 20833"/>
            </a:avLst>
          </a:prstGeom>
          <a:solidFill>
            <a:srgbClr val="FBF1DC"/>
          </a:solidFill>
          <a:ln w="9525">
            <a:solidFill>
              <a:srgbClr val="E8D9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2"/>
          <p:cNvSpPr/>
          <p:nvPr/>
        </p:nvSpPr>
        <p:spPr>
          <a:xfrm>
            <a:off x="6638544" y="50383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CIBLE, FRAGILE</a:t>
            </a:r>
            <a:endParaRPr lang="en-US" sz="750" dirty="0"/>
          </a:p>
        </p:txBody>
      </p:sp>
      <p:sp>
        <p:nvSpPr>
          <p:cNvPr id="40" name="Text 33"/>
          <p:cNvSpPr/>
          <p:nvPr/>
        </p:nvSpPr>
        <p:spPr>
          <a:xfrm>
            <a:off x="8156448" y="5020056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B88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la gamification (rappels, badges) pour passer durablement la cible.</a:t>
            </a:r>
            <a:endParaRPr lang="en-US" sz="930" dirty="0"/>
          </a:p>
        </p:txBody>
      </p:sp>
      <p:sp>
        <p:nvSpPr>
          <p:cNvPr id="41" name="Shape 34"/>
          <p:cNvSpPr/>
          <p:nvPr/>
        </p:nvSpPr>
        <p:spPr>
          <a:xfrm>
            <a:off x="5943600" y="5431536"/>
            <a:ext cx="5742432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Shape 35"/>
          <p:cNvSpPr/>
          <p:nvPr/>
        </p:nvSpPr>
        <p:spPr>
          <a:xfrm>
            <a:off x="6071616" y="5541264"/>
            <a:ext cx="457200" cy="45720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5060" y="5660136"/>
            <a:ext cx="205740" cy="20574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638544" y="548640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82,9 %</a:t>
            </a:r>
            <a:r>
              <a:rPr lang="en-US" sz="9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public 18-24 ans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6638544" y="5779008"/>
            <a:ext cx="1463040" cy="219456"/>
          </a:xfrm>
          <a:prstGeom prst="roundRect">
            <a:avLst>
              <a:gd name="adj" fmla="val 20833"/>
            </a:avLst>
          </a:prstGeom>
          <a:solidFill>
            <a:srgbClr val="ECE5F1"/>
          </a:solidFill>
          <a:ln w="9525">
            <a:solidFill>
              <a:srgbClr val="DCD0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38"/>
          <p:cNvSpPr/>
          <p:nvPr/>
        </p:nvSpPr>
        <p:spPr>
          <a:xfrm>
            <a:off x="6638544" y="57790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TROP ÉTROITE</a:t>
            </a:r>
            <a:endParaRPr lang="en-US" sz="750" dirty="0"/>
          </a:p>
        </p:txBody>
      </p:sp>
      <p:sp>
        <p:nvSpPr>
          <p:cNvPr id="47" name="Text 39"/>
          <p:cNvSpPr/>
          <p:nvPr/>
        </p:nvSpPr>
        <p:spPr>
          <a:xfrm>
            <a:off x="8156448" y="5760720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3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3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Diversifier la communication vers les 25-30 et +30 pour élargir l'audience.</a:t>
            </a:r>
            <a:endParaRPr lang="en-US" sz="930" dirty="0"/>
          </a:p>
        </p:txBody>
      </p:sp>
      <p:sp>
        <p:nvSpPr>
          <p:cNvPr id="48" name="Shape 40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1"/>
          <p:cNvSpPr/>
          <p:nvPr/>
        </p:nvSpPr>
        <p:spPr>
          <a:xfrm>
            <a:off x="502920" y="644652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Text 42"/>
          <p:cNvSpPr/>
          <p:nvPr/>
        </p:nvSpPr>
        <p:spPr>
          <a:xfrm>
            <a:off x="502920" y="6446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AC32.02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1755648" y="632764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Exploiter les données pour accompagner la prise de décision</a:t>
            </a:r>
            <a:endParaRPr lang="en-US" sz="1300" dirty="0"/>
          </a:p>
        </p:txBody>
      </p:sp>
      <p:sp>
        <p:nvSpPr>
          <p:cNvPr id="52" name="Text 44"/>
          <p:cNvSpPr/>
          <p:nvPr/>
        </p:nvSpPr>
        <p:spPr>
          <a:xfrm>
            <a:off x="7772400" y="6327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DÉCIDER </a:t>
            </a:r>
            <a:r>
              <a:rPr lang="en-US" sz="1050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Concourir à la prise de décision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F308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DÉCIDER   ·   EXPLOITER LES DONNÉES POUR ACCOMPAGNER LA PRISE DE DÉCISION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un dashboard exploitable : passer de données dispersées à des décisions formalisées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10378440" y="457200"/>
            <a:ext cx="1307592" cy="457200"/>
          </a:xfrm>
          <a:prstGeom prst="roundRect">
            <a:avLst>
              <a:gd name="adj" fmla="val 20000"/>
            </a:avLst>
          </a:prstGeom>
          <a:solidFill>
            <a:srgbClr val="65B8B4"/>
          </a:solidFill>
          <a:ln w="12700">
            <a:solidFill>
              <a:srgbClr val="65B8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378440" y="45720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AC32.02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11183112" cy="676656"/>
          </a:xfrm>
          <a:prstGeom prst="roundRect">
            <a:avLst>
              <a:gd name="adj" fmla="val 10811"/>
            </a:avLst>
          </a:prstGeom>
          <a:solidFill>
            <a:srgbClr val="1F3089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0078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499616"/>
            <a:ext cx="10378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kern="0" spc="150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 ne propose pas d'outil natif de tableau de bord. Sans interface de pilotage, les données collectées par la plateforme restaient inexploitables pour décider. La construction du dashboard a soulevé trois obstacles successifs.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340864"/>
            <a:ext cx="5504688" cy="420624"/>
          </a:xfrm>
          <a:prstGeom prst="roundRect">
            <a:avLst>
              <a:gd name="adj" fmla="val 15217"/>
            </a:avLst>
          </a:prstGeom>
          <a:solidFill>
            <a:srgbClr val="60247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44144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33272" y="2340864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L'OBSTACLE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99632" y="2340864"/>
            <a:ext cx="5486400" cy="420624"/>
          </a:xfrm>
          <a:prstGeom prst="roundRect">
            <a:avLst>
              <a:gd name="adj" fmla="val 15217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44144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9984" y="234086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APPORTÉE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02920" y="2871216"/>
            <a:ext cx="5504688" cy="950976"/>
          </a:xfrm>
          <a:prstGeom prst="roundRect">
            <a:avLst>
              <a:gd name="adj" fmla="val 6731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685800" y="3118104"/>
            <a:ext cx="457200" cy="45720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3"/>
          <p:cNvSpPr/>
          <p:nvPr/>
        </p:nvSpPr>
        <p:spPr>
          <a:xfrm>
            <a:off x="68580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280160" y="2926080"/>
            <a:ext cx="4544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source structurée.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Wix expose comptes, messages et notations dans des écrans séparés, sans export consolidé. Impossible de croiser visites, conversions et satisfaction.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016752" y="2871216"/>
            <a:ext cx="182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199632" y="2871216"/>
            <a:ext cx="5486400" cy="950976"/>
          </a:xfrm>
          <a:prstGeom prst="roundRect">
            <a:avLst>
              <a:gd name="adj" fmla="val 6731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6382512" y="3118104"/>
            <a:ext cx="457200" cy="457200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323697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76872" y="292608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d'un export consolidé (Google Sheets) alimenté à fréquence régulière, branché à l'outil de dashboarding comme source unique du dashboard.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02920" y="3950208"/>
            <a:ext cx="5504688" cy="950976"/>
          </a:xfrm>
          <a:prstGeom prst="roundRect">
            <a:avLst>
              <a:gd name="adj" fmla="val 6731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685800" y="4197096"/>
            <a:ext cx="457200" cy="45720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68580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280160" y="4005072"/>
            <a:ext cx="4544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sans repère de décision.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chiffre seul ne dit rien : « note 4,25 » ou « 73 messages » ne déclenche aucune action tant qu'on ignore ce qui est « bon ».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016752" y="3950208"/>
            <a:ext cx="182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199632" y="3950208"/>
            <a:ext cx="5486400" cy="950976"/>
          </a:xfrm>
          <a:prstGeom prst="roundRect">
            <a:avLst>
              <a:gd name="adj" fmla="val 6731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6382512" y="4197096"/>
            <a:ext cx="457200" cy="457200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4315968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976872" y="4005072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d'objectifs cibles concertés avec l'équipe (note ≥ 4,5 · ≥ 2 challenges/membre), affichés en superposition sur chaque visuel.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02920" y="5029200"/>
            <a:ext cx="5504688" cy="950976"/>
          </a:xfrm>
          <a:prstGeom prst="roundRect">
            <a:avLst>
              <a:gd name="adj" fmla="val 6731"/>
            </a:avLst>
          </a:prstGeom>
          <a:solidFill>
            <a:srgbClr val="ECE5F1"/>
          </a:solidFill>
          <a:ln w="12700">
            <a:solidFill>
              <a:srgbClr val="DCD0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28"/>
          <p:cNvSpPr/>
          <p:nvPr/>
        </p:nvSpPr>
        <p:spPr>
          <a:xfrm>
            <a:off x="685800" y="5276088"/>
            <a:ext cx="457200" cy="457200"/>
          </a:xfrm>
          <a:prstGeom prst="ellipse">
            <a:avLst/>
          </a:prstGeom>
          <a:solidFill>
            <a:srgbClr val="6024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29"/>
          <p:cNvSpPr/>
          <p:nvPr/>
        </p:nvSpPr>
        <p:spPr>
          <a:xfrm>
            <a:off x="68580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1280160" y="5084064"/>
            <a:ext cx="4544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6024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lu ≠ décision prise.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dashboard peut rester décoratif si personne ne s'en sert pour </a:t>
            </a:r>
            <a:r>
              <a:rPr lang="en-US" sz="1050" dirty="0" err="1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arbitrer</a:t>
            </a: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l'équipe risque de poursuivre ses habitudes indépendamment des chiffres.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6016752" y="5029200"/>
            <a:ext cx="182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199632" y="5029200"/>
            <a:ext cx="5486400" cy="950976"/>
          </a:xfrm>
          <a:prstGeom prst="roundRect">
            <a:avLst>
              <a:gd name="adj" fmla="val 6731"/>
            </a:avLst>
          </a:prstGeom>
          <a:solidFill>
            <a:srgbClr val="E4F1F0"/>
          </a:solidFill>
          <a:ln w="12700">
            <a:solidFill>
              <a:srgbClr val="C9E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3"/>
          <p:cNvSpPr/>
          <p:nvPr/>
        </p:nvSpPr>
        <p:spPr>
          <a:xfrm>
            <a:off x="6382512" y="5276088"/>
            <a:ext cx="457200" cy="457200"/>
          </a:xfrm>
          <a:prstGeom prst="ellipse">
            <a:avLst/>
          </a:prstGeom>
          <a:solidFill>
            <a:srgbClr val="1F3089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5394960"/>
            <a:ext cx="219456" cy="21945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976872" y="5084064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écart à la cible, formalisation d'une action correctrice (revue de fiches, relance gamification, élargissement des cibles 25+).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0" y="6327648"/>
            <a:ext cx="12188952" cy="530352"/>
          </a:xfrm>
          <a:prstGeom prst="rect">
            <a:avLst/>
          </a:prstGeom>
          <a:solidFill>
            <a:srgbClr val="400C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Shape 36"/>
          <p:cNvSpPr/>
          <p:nvPr/>
        </p:nvSpPr>
        <p:spPr>
          <a:xfrm>
            <a:off x="502920" y="644652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65B8B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37"/>
          <p:cNvSpPr/>
          <p:nvPr/>
        </p:nvSpPr>
        <p:spPr>
          <a:xfrm>
            <a:off x="502920" y="6446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AC32.02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1755648" y="632764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Exploiter les données pour accompagner la prise de décision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7772400" y="6327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DÉCIDER </a:t>
            </a:r>
            <a:r>
              <a:rPr lang="en-US" sz="1050" dirty="0">
                <a:solidFill>
                  <a:srgbClr val="C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Concourir à la prise de décision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Office PowerPoint</Application>
  <PresentationFormat>Custom</PresentationFormat>
  <Paragraphs>47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Preuve AC32.02 — Exploiter les données pour accompagner la prise de décision</dc:title>
  <dc:subject>PptxGenJS Presentation</dc:subject>
  <dc:creator>Oscar Rousset</dc:creator>
  <cp:lastModifiedBy>Oscar Rousset</cp:lastModifiedBy>
  <cp:revision>2</cp:revision>
  <dcterms:created xsi:type="dcterms:W3CDTF">2026-06-16T17:37:09Z</dcterms:created>
  <dcterms:modified xsi:type="dcterms:W3CDTF">2026-06-16T18:49:19Z</dcterms:modified>
</cp:coreProperties>
</file>