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6858000" cy="9601200"/>
  <p:notesSz cx="96012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17D225-7B72-475E-8514-127CE4EE3119}" v="1" dt="2026-06-17T08:55:10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Rousset" userId="438b0d8ad050c8f0" providerId="LiveId" clId="{F67C558F-9AD8-4E43-8CEB-EE30BAE507D4}"/>
    <pc:docChg chg="undo custSel modSld">
      <pc:chgData name="Oscar Rousset" userId="438b0d8ad050c8f0" providerId="LiveId" clId="{F67C558F-9AD8-4E43-8CEB-EE30BAE507D4}" dt="2026-06-17T09:09:32.785" v="16" actId="1076"/>
      <pc:docMkLst>
        <pc:docMk/>
      </pc:docMkLst>
      <pc:sldChg chg="addSp delSp modSp mod">
        <pc:chgData name="Oscar Rousset" userId="438b0d8ad050c8f0" providerId="LiveId" clId="{F67C558F-9AD8-4E43-8CEB-EE30BAE507D4}" dt="2026-06-17T08:55:55.060" v="15" actId="113"/>
        <pc:sldMkLst>
          <pc:docMk/>
          <pc:sldMk cId="0" sldId="256"/>
        </pc:sldMkLst>
        <pc:spChg chg="mod">
          <ac:chgData name="Oscar Rousset" userId="438b0d8ad050c8f0" providerId="LiveId" clId="{F67C558F-9AD8-4E43-8CEB-EE30BAE507D4}" dt="2026-06-16T21:46:13.918" v="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1:46:13.918" v="4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Oscar Rousset" userId="438b0d8ad050c8f0" providerId="LiveId" clId="{F67C558F-9AD8-4E43-8CEB-EE30BAE507D4}" dt="2026-06-17T08:55:10.880" v="13"/>
          <ac:spMkLst>
            <pc:docMk/>
            <pc:sldMk cId="0" sldId="256"/>
            <ac:spMk id="8" creationId="{00000000-0000-0000-0000-000000000000}"/>
          </ac:spMkLst>
        </pc:spChg>
        <pc:spChg chg="mod">
          <ac:chgData name="Oscar Rousset" userId="438b0d8ad050c8f0" providerId="LiveId" clId="{F67C558F-9AD8-4E43-8CEB-EE30BAE507D4}" dt="2026-06-17T08:55:55.060" v="15" actId="113"/>
          <ac:spMkLst>
            <pc:docMk/>
            <pc:sldMk cId="0" sldId="256"/>
            <ac:spMk id="13" creationId="{00000000-0000-0000-0000-000000000000}"/>
          </ac:spMkLst>
        </pc:spChg>
        <pc:spChg chg="mod">
          <ac:chgData name="Oscar Rousset" userId="438b0d8ad050c8f0" providerId="LiveId" clId="{F67C558F-9AD8-4E43-8CEB-EE30BAE507D4}" dt="2026-06-17T08:55:10.880" v="13"/>
          <ac:spMkLst>
            <pc:docMk/>
            <pc:sldMk cId="0" sldId="256"/>
            <ac:spMk id="27" creationId="{00000000-0000-0000-0000-000000000000}"/>
          </ac:spMkLst>
        </pc:spChg>
        <pc:spChg chg="del mod">
          <ac:chgData name="Oscar Rousset" userId="438b0d8ad050c8f0" providerId="LiveId" clId="{F67C558F-9AD8-4E43-8CEB-EE30BAE507D4}" dt="2026-06-17T08:55:23.431" v="14" actId="478"/>
          <ac:spMkLst>
            <pc:docMk/>
            <pc:sldMk cId="0" sldId="256"/>
            <ac:spMk id="36" creationId="{00000000-0000-0000-0000-000000000000}"/>
          </ac:spMkLst>
        </pc:spChg>
        <pc:spChg chg="add del">
          <ac:chgData name="Oscar Rousset" userId="438b0d8ad050c8f0" providerId="LiveId" clId="{F67C558F-9AD8-4E43-8CEB-EE30BAE507D4}" dt="2026-06-16T21:46:36.733" v="9" actId="478"/>
          <ac:spMkLst>
            <pc:docMk/>
            <pc:sldMk cId="0" sldId="256"/>
            <ac:spMk id="38" creationId="{00000000-0000-0000-0000-000000000000}"/>
          </ac:spMkLst>
        </pc:spChg>
        <pc:spChg chg="add del mod">
          <ac:chgData name="Oscar Rousset" userId="438b0d8ad050c8f0" providerId="LiveId" clId="{F67C558F-9AD8-4E43-8CEB-EE30BAE507D4}" dt="2026-06-17T08:54:50.821" v="12" actId="20577"/>
          <ac:spMkLst>
            <pc:docMk/>
            <pc:sldMk cId="0" sldId="256"/>
            <ac:spMk id="39" creationId="{00000000-0000-0000-0000-000000000000}"/>
          </ac:spMkLst>
        </pc:spChg>
      </pc:sldChg>
      <pc:sldChg chg="modSp mod">
        <pc:chgData name="Oscar Rousset" userId="438b0d8ad050c8f0" providerId="LiveId" clId="{F67C558F-9AD8-4E43-8CEB-EE30BAE507D4}" dt="2026-06-17T09:09:32.785" v="16" actId="1076"/>
        <pc:sldMkLst>
          <pc:docMk/>
          <pc:sldMk cId="0" sldId="257"/>
        </pc:sldMkLst>
        <pc:spChg chg="mod">
          <ac:chgData name="Oscar Rousset" userId="438b0d8ad050c8f0" providerId="LiveId" clId="{F67C558F-9AD8-4E43-8CEB-EE30BAE507D4}" dt="2026-06-17T09:09:32.785" v="16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Oscar Rousset" userId="438b0d8ad050c8f0" providerId="LiveId" clId="{F67C558F-9AD8-4E43-8CEB-EE30BAE507D4}" dt="2026-06-17T09:09:32.785" v="16" actId="1076"/>
          <ac:spMkLst>
            <pc:docMk/>
            <pc:sldMk cId="0" sldId="257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42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35024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DÉCIDER   ·   PARTICIPER À LA PRISE DE DÉCISION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contrainte BFR à la décision de crédit revolving : trois étapes d'un raisonnement financier contraint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16168" y="108284"/>
            <a:ext cx="822960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16168" y="1082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AC32.03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6163056" cy="512064"/>
          </a:xfrm>
          <a:prstGeom prst="roundRect">
            <a:avLst>
              <a:gd name="adj" fmla="val 12500"/>
            </a:avLst>
          </a:prstGeom>
          <a:solidFill>
            <a:srgbClr val="E9ECF7"/>
          </a:solidFill>
          <a:ln w="12700">
            <a:solidFill>
              <a:srgbClr val="D2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Adopt</a:t>
            </a: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Suite à la recommandation de la franchise (AC31.02), l'équipe identifie une contrainte BFR structurelle et doit trancher sur l'instrument de financement à préconiser.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103120"/>
            <a:ext cx="616305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47472" y="2103120"/>
            <a:ext cx="182880" cy="1298448"/>
          </a:xfrm>
          <a:prstGeom prst="rect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40080" y="2231136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0080" y="2231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CONTRAINTE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5687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franchise multiplie les stocks pays, amplifie la saisonnalité Q4 et génère des flux multidevises → </a:t>
            </a:r>
            <a:r>
              <a:rPr lang="en-US" sz="110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BFR s'alourdit structurellement à chaque ouverture de boutique</a:t>
            </a: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" y="3401568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529584"/>
            <a:ext cx="616305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47472" y="3529584"/>
            <a:ext cx="182880" cy="1298448"/>
          </a:xfrm>
          <a:prstGeom prst="rect">
            <a:avLst/>
          </a:prstGeom>
          <a:solidFill>
            <a:srgbClr val="B882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B882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RAISONNEMENT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3986784"/>
            <a:ext cx="5687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bilantielle d'Adopt est saine : autonomie 0,54, taux d'endettement 0,20, EBITDA 35 M€. Dette/EBITDA &lt; 2× vs covenant 3× → 25 à 50 M€ de capacité mobilisable.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" y="4828032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4956048"/>
            <a:ext cx="616305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47472" y="4956048"/>
            <a:ext cx="182880" cy="1298448"/>
          </a:xfrm>
          <a:prstGeom prst="rect">
            <a:avLst/>
          </a:prstGeom>
          <a:solidFill>
            <a:srgbClr val="2E7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40080" y="5084064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E7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080" y="50840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5413248"/>
            <a:ext cx="5687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Préconiser un crédit revolving (RCF) : ligne tirée au besoin, remboursée librement, commission ~0,3–0,5 % sur la part non utilisée. Trésorerie optimisée, capital long terme préservé.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7004304"/>
            <a:ext cx="6163056" cy="1115568"/>
          </a:xfrm>
          <a:prstGeom prst="roundRect">
            <a:avLst>
              <a:gd name="adj" fmla="val 6557"/>
            </a:avLst>
          </a:prstGeom>
          <a:solidFill>
            <a:srgbClr val="1F3089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2920" y="70591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- CAPACITÉ BILANTIELLE D'ADOPT (2024)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7278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2920" y="7626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financière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84248" y="7278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984248" y="7626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d'endettement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65576" y="7278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465576" y="7626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46904" y="7278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25–50 M€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946904" y="7626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mobilisable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9162288"/>
            <a:ext cx="6858000" cy="43891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47472" y="924458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47472" y="9244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AC32.03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371600" y="916228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Participer à la prise de décision en fonction des contraintes identifiées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35024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DÉCIDER   ·   PARTICIPER À LA PRISE DE DÉCISION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Opter pour le crédit revolving plutôt que l'emprunt long terme : une décision dictée par la nature cyclique du BFR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02693" y="98659"/>
            <a:ext cx="822960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02693" y="98659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AC32.03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6163056" cy="749808"/>
          </a:xfrm>
          <a:prstGeom prst="roundRect">
            <a:avLst>
              <a:gd name="adj" fmla="val 9756"/>
            </a:avLst>
          </a:prstGeom>
          <a:solidFill>
            <a:srgbClr val="1F3089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5870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b="1" kern="0" spc="1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financer l'augmentation structurelle du BFR liée à la montée en charge du réseau franchise, sans immobiliser du capital long terme ni peser sur la capacité d'endettement industrielle 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2377440"/>
            <a:ext cx="2688336" cy="384048"/>
          </a:xfrm>
          <a:prstGeom prst="roundRect">
            <a:avLst>
              <a:gd name="adj" fmla="val 16667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46888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" y="237744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L'OBSTACLE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55264" y="2377440"/>
            <a:ext cx="3255264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46888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7472" y="2889504"/>
            <a:ext cx="2688336" cy="1481328"/>
          </a:xfrm>
          <a:prstGeom prst="roundRect">
            <a:avLst>
              <a:gd name="adj" fmla="val 4321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93776" y="2999232"/>
            <a:ext cx="24140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BFR est par nature cyclique (pics Q4, décalages multidevises). Un emprunt amortissable immobilise du capital même quand le besoin est nul.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054096" y="2889504"/>
            <a:ext cx="14630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255264" y="2889504"/>
            <a:ext cx="3255264" cy="1481328"/>
          </a:xfrm>
          <a:prstGeom prst="roundRect">
            <a:avLst>
              <a:gd name="adj" fmla="val 4321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3401568" y="2999232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RCF s'adapte au cycle : on tire quand le besoin existe, on rembourse en dehors des pics. Coût ≈ 0 quand non utilisé.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47472" y="4553712"/>
            <a:ext cx="2688336" cy="1481328"/>
          </a:xfrm>
          <a:prstGeom prst="roundRect">
            <a:avLst>
              <a:gd name="adj" fmla="val 4321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493776" y="4663440"/>
            <a:ext cx="24140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L'emprunt long terme pèse sur les covenants et réduit la capacité à financer les investissements industriels (usine Château-Renard).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054096" y="4553712"/>
            <a:ext cx="14630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255264" y="4553712"/>
            <a:ext cx="3255264" cy="1481328"/>
          </a:xfrm>
          <a:prstGeom prst="roundRect">
            <a:avLst>
              <a:gd name="adj" fmla="val 4321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3401568" y="466344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RCF préserve le ratio dette/EBITDA pour les besoins capitalistiques lourds. Les deux instruments sont complémentaires, pas substituables.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47472" y="6217920"/>
            <a:ext cx="2688336" cy="1481328"/>
          </a:xfrm>
          <a:prstGeom prst="roundRect">
            <a:avLst>
              <a:gd name="adj" fmla="val 4321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493776" y="6327648"/>
            <a:ext cx="24140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= stocks décentralisés + multidevises = risque de change non prévisible sur les niveaux de BFR.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054096" y="6217920"/>
            <a:ext cx="14630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255264" y="6217920"/>
            <a:ext cx="3255264" cy="1481328"/>
          </a:xfrm>
          <a:prstGeom prst="roundRect">
            <a:avLst>
              <a:gd name="adj" fmla="val 4321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3401568" y="6327648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flexible absorbe les chocs de change sans sur-cash dormant. Commission ~0,3–0,5 % sur la part non utilisée vs coût d'opportunité d'un surplus de trésorerie.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0" y="9162288"/>
            <a:ext cx="6858000" cy="43891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7"/>
          <p:cNvSpPr/>
          <p:nvPr/>
        </p:nvSpPr>
        <p:spPr>
          <a:xfrm>
            <a:off x="347472" y="924458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347472" y="9244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AC32.03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371600" y="916228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Participer à la prise de décision en fonction des contraintes identifiées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Custom</PresentationFormat>
  <Paragraphs>42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Oscar Rousset</cp:lastModifiedBy>
  <cp:revision>1</cp:revision>
  <dcterms:created xsi:type="dcterms:W3CDTF">2026-06-16T21:43:10Z</dcterms:created>
  <dcterms:modified xsi:type="dcterms:W3CDTF">2026-06-17T09:09:41Z</dcterms:modified>
</cp:coreProperties>
</file>