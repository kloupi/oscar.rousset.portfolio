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50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ÉVALUER GC2F   ·   RÉALISER LA GESTION DE TRÉSORERIE SUR LE COURT TERME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Anticiper le creux de trésorerie du démarrage et le neutraliser par un apport en compte courant d'associé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424160" y="493776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424160" y="4937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AC35.04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11183112" cy="402336"/>
          </a:xfrm>
          <a:prstGeom prst="roundRect">
            <a:avLst>
              <a:gd name="adj" fmla="val 15909"/>
            </a:avLst>
          </a:prstGeom>
          <a:solidFill>
            <a:srgbClr val="E9ECF7"/>
          </a:solidFill>
          <a:ln w="12700">
            <a:solidFill>
              <a:srgbClr val="D2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Reprise - MONAP Immobilier  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moyen de règlement clients de </a:t>
            </a:r>
            <a:r>
              <a:rPr lang="en-US" sz="105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l'immobilier → aucun encaissement en T1 alors que charges et remboursement d'emprunt courent dès janvier. Besoin de trésorerie fort au démarrage.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29968"/>
            <a:ext cx="7315200" cy="310896"/>
          </a:xfrm>
          <a:prstGeom prst="roundRect">
            <a:avLst>
              <a:gd name="adj" fmla="val 23529"/>
            </a:avLst>
          </a:prstGeom>
          <a:solidFill>
            <a:srgbClr val="4835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PRÉVISIONNELLE 2026 - PAR TRIMESTRE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40864"/>
            <a:ext cx="1737360" cy="274320"/>
          </a:xfrm>
          <a:prstGeom prst="rect">
            <a:avLst/>
          </a:prstGeom>
          <a:solidFill>
            <a:srgbClr val="4835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2340864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2340864"/>
            <a:ext cx="1394460" cy="27432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240280" y="2340864"/>
            <a:ext cx="13944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T1 - jan/mars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34740" y="2340864"/>
            <a:ext cx="1394460" cy="27432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34740" y="2340864"/>
            <a:ext cx="13944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T2 - avr/juin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2340864"/>
            <a:ext cx="1394460" cy="27432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0" y="2340864"/>
            <a:ext cx="13944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T3 - juil/sep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23660" y="2340864"/>
            <a:ext cx="1394460" cy="27432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23660" y="2340864"/>
            <a:ext cx="13944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T4 - oct/déc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615184"/>
            <a:ext cx="1737360" cy="347472"/>
          </a:xfrm>
          <a:prstGeom prst="rect">
            <a:avLst/>
          </a:prstGeom>
          <a:solidFill>
            <a:srgbClr val="E9ECF7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57784" y="2615184"/>
            <a:ext cx="16276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40280" y="2615184"/>
            <a:ext cx="13944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295144" y="2615184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34740" y="2615184"/>
            <a:ext cx="13944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89604" y="2615184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91 720 €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615184"/>
            <a:ext cx="13944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84064" y="2615184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239 530 €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23660" y="2615184"/>
            <a:ext cx="13944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478524" y="2615184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197 260 €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2962656"/>
            <a:ext cx="1737360" cy="347472"/>
          </a:xfrm>
          <a:prstGeom prst="rect">
            <a:avLst/>
          </a:prstGeom>
          <a:solidFill>
            <a:srgbClr val="E0E6F4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57784" y="2962656"/>
            <a:ext cx="16276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Décaissements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40280" y="2962656"/>
            <a:ext cx="139446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295144" y="2962656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130 668 €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34740" y="2962656"/>
            <a:ext cx="139446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689604" y="2962656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130 668 €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2962656"/>
            <a:ext cx="139446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084064" y="2962656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130 668 €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23660" y="2962656"/>
            <a:ext cx="139446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478524" y="2962656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132 243 €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3310128"/>
            <a:ext cx="1737360" cy="347472"/>
          </a:xfrm>
          <a:prstGeom prst="rect">
            <a:avLst/>
          </a:prstGeom>
          <a:solidFill>
            <a:srgbClr val="E9ECF7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57784" y="3310128"/>
            <a:ext cx="16276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40280" y="3310128"/>
            <a:ext cx="13944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295144" y="3310128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−130 668 €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4740" y="3310128"/>
            <a:ext cx="13944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689604" y="3310128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−17 948 €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0" y="3310128"/>
            <a:ext cx="13944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084064" y="3310128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+ 108 862 €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23660" y="3310128"/>
            <a:ext cx="13944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478524" y="3310128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+ 65 017 €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3657600"/>
            <a:ext cx="1737360" cy="347472"/>
          </a:xfrm>
          <a:prstGeom prst="rect">
            <a:avLst/>
          </a:prstGeom>
          <a:solidFill>
            <a:srgbClr val="E0E6F4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57784" y="3657600"/>
            <a:ext cx="16276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final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40280" y="3657600"/>
            <a:ext cx="139446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2295144" y="3657600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−130 668 €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34740" y="3657600"/>
            <a:ext cx="139446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3689604" y="3657600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−148 616 €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29200" y="3657600"/>
            <a:ext cx="139446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5084064" y="3657600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−39 754 €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23660" y="3657600"/>
            <a:ext cx="139446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6478524" y="3657600"/>
            <a:ext cx="12847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+ 25 264 €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2920" y="405993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apport en CCA : 160 000 € injectés en </a:t>
            </a:r>
            <a:r>
              <a:rPr lang="en-US" sz="800" i="1" dirty="0" err="1">
                <a:solidFill>
                  <a:srgbClr val="6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r>
              <a:rPr lang="en-US" sz="800" i="1" dirty="0">
                <a:solidFill>
                  <a:srgbClr val="6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absent des encaissements T2/T3/T4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028432" y="2029968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483596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8193024" y="2157984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- APPORT EN CCA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193024" y="2414016"/>
            <a:ext cx="3328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160 000 €</a:t>
            </a:r>
            <a:endParaRPr lang="en-US" sz="3400" dirty="0"/>
          </a:p>
        </p:txBody>
      </p:sp>
      <p:sp>
        <p:nvSpPr>
          <p:cNvPr id="65" name="Text 63"/>
          <p:cNvSpPr/>
          <p:nvPr/>
        </p:nvSpPr>
        <p:spPr>
          <a:xfrm>
            <a:off x="8193024" y="288950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injecté en janvier 2026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193024" y="3127248"/>
            <a:ext cx="3328416" cy="0"/>
          </a:xfrm>
          <a:prstGeom prst="line">
            <a:avLst/>
          </a:prstGeom>
          <a:noFill/>
          <a:ln w="9525">
            <a:solidFill>
              <a:srgbClr val="65B8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8193024" y="3200400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Couvre le creux T1 (−130 k€) et T2 (−148 k€)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193024" y="343814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Remboursable sans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avantage fiscal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193024" y="367588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Évite tout financement bancaire supplémentaire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2920" y="4315968"/>
            <a:ext cx="11183112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502920" y="4443984"/>
            <a:ext cx="5212080" cy="310896"/>
          </a:xfrm>
          <a:prstGeom prst="roundRect">
            <a:avLst>
              <a:gd name="adj" fmla="val 20588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507992"/>
            <a:ext cx="182880" cy="18288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886968" y="44439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5833872" y="4443984"/>
            <a:ext cx="5852160" cy="310896"/>
          </a:xfrm>
          <a:prstGeom prst="roundRect">
            <a:avLst>
              <a:gd name="adj" fmla="val 20588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4507992"/>
            <a:ext cx="182880" cy="182880"/>
          </a:xfrm>
          <a:prstGeom prst="rect">
            <a:avLst/>
          </a:prstGeom>
        </p:spPr>
      </p:pic>
      <p:sp>
        <p:nvSpPr>
          <p:cNvPr id="76" name="Text 72"/>
          <p:cNvSpPr/>
          <p:nvPr/>
        </p:nvSpPr>
        <p:spPr>
          <a:xfrm>
            <a:off x="6217920" y="44439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000" dirty="0"/>
          </a:p>
        </p:txBody>
      </p:sp>
      <p:sp>
        <p:nvSpPr>
          <p:cNvPr id="77" name="Shape 73"/>
          <p:cNvSpPr/>
          <p:nvPr/>
        </p:nvSpPr>
        <p:spPr>
          <a:xfrm>
            <a:off x="502920" y="4818888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4"/>
          <p:cNvSpPr/>
          <p:nvPr/>
        </p:nvSpPr>
        <p:spPr>
          <a:xfrm>
            <a:off x="630936" y="4873752"/>
            <a:ext cx="4974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client de 3 mois : charges fixes dès janvier, zéro encaissement avant avril → creux structurel au démarrage impossible à éviter.</a:t>
            </a:r>
            <a:endParaRPr lang="en-US" sz="950" dirty="0"/>
          </a:p>
        </p:txBody>
      </p:sp>
      <p:sp>
        <p:nvSpPr>
          <p:cNvPr id="79" name="Text 75"/>
          <p:cNvSpPr/>
          <p:nvPr/>
        </p:nvSpPr>
        <p:spPr>
          <a:xfrm>
            <a:off x="5769864" y="4818888"/>
            <a:ext cx="109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80" name="Shape 76"/>
          <p:cNvSpPr/>
          <p:nvPr/>
        </p:nvSpPr>
        <p:spPr>
          <a:xfrm>
            <a:off x="5833872" y="4818888"/>
            <a:ext cx="5852160" cy="621792"/>
          </a:xfrm>
          <a:prstGeom prst="roundRect">
            <a:avLst>
              <a:gd name="adj" fmla="val 10294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77"/>
          <p:cNvSpPr/>
          <p:nvPr/>
        </p:nvSpPr>
        <p:spPr>
          <a:xfrm>
            <a:off x="5961888" y="4873752"/>
            <a:ext cx="5614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de 160 k€ calibré sur le point bas (−148 k€ en T2). Facilité de caisse (30 k€) en filet. Retour positif confirmé au T4 (+ 25 k€).</a:t>
            </a:r>
            <a:endParaRPr lang="en-US" sz="950" dirty="0"/>
          </a:p>
        </p:txBody>
      </p:sp>
      <p:sp>
        <p:nvSpPr>
          <p:cNvPr id="82" name="Shape 78"/>
          <p:cNvSpPr/>
          <p:nvPr/>
        </p:nvSpPr>
        <p:spPr>
          <a:xfrm>
            <a:off x="502920" y="5513832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Text 79"/>
          <p:cNvSpPr/>
          <p:nvPr/>
        </p:nvSpPr>
        <p:spPr>
          <a:xfrm>
            <a:off x="630936" y="5568696"/>
            <a:ext cx="4974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sous-calibrage du CCA : un montant insuffisant crée un découvert bancaire dès T2, mettant en danger la continuité d'exploitation.</a:t>
            </a:r>
            <a:endParaRPr lang="en-US" sz="950" dirty="0"/>
          </a:p>
        </p:txBody>
      </p:sp>
      <p:sp>
        <p:nvSpPr>
          <p:cNvPr id="84" name="Text 80"/>
          <p:cNvSpPr/>
          <p:nvPr/>
        </p:nvSpPr>
        <p:spPr>
          <a:xfrm>
            <a:off x="5769864" y="5513832"/>
            <a:ext cx="109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85" name="Shape 81"/>
          <p:cNvSpPr/>
          <p:nvPr/>
        </p:nvSpPr>
        <p:spPr>
          <a:xfrm>
            <a:off x="5833872" y="5513832"/>
            <a:ext cx="5852160" cy="621792"/>
          </a:xfrm>
          <a:prstGeom prst="roundRect">
            <a:avLst>
              <a:gd name="adj" fmla="val 10294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2"/>
          <p:cNvSpPr/>
          <p:nvPr/>
        </p:nvSpPr>
        <p:spPr>
          <a:xfrm>
            <a:off x="5961888" y="5568696"/>
            <a:ext cx="5614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mensuelle des flux → identification précise du pic de déficit en T2 → CCA fixé à 160 k€, couvrant exactement ce point bas avec marge minimale.</a:t>
            </a:r>
            <a:endParaRPr lang="en-US" sz="950" dirty="0"/>
          </a:p>
        </p:txBody>
      </p:sp>
      <p:sp>
        <p:nvSpPr>
          <p:cNvPr id="87" name="Shape 83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4"/>
          <p:cNvSpPr/>
          <p:nvPr/>
        </p:nvSpPr>
        <p:spPr>
          <a:xfrm>
            <a:off x="502920" y="650138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5"/>
          <p:cNvSpPr/>
          <p:nvPr/>
        </p:nvSpPr>
        <p:spPr>
          <a:xfrm>
            <a:off x="502920" y="6501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AC35.04</a:t>
            </a:r>
            <a:endParaRPr lang="en-US" sz="1000" dirty="0"/>
          </a:p>
        </p:txBody>
      </p:sp>
      <p:sp>
        <p:nvSpPr>
          <p:cNvPr id="90" name="Text 86"/>
          <p:cNvSpPr/>
          <p:nvPr/>
        </p:nvSpPr>
        <p:spPr>
          <a:xfrm>
            <a:off x="1719072" y="6419088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Réaliser la gestion de trésorerie sur le court terme</a:t>
            </a:r>
            <a:endParaRPr lang="en-US" sz="1200" dirty="0"/>
          </a:p>
        </p:txBody>
      </p:sp>
      <p:sp>
        <p:nvSpPr>
          <p:cNvPr id="91" name="Text 87"/>
          <p:cNvSpPr/>
          <p:nvPr/>
        </p:nvSpPr>
        <p:spPr>
          <a:xfrm>
            <a:off x="7680960" y="64190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ÉVALUER GC2F </a:t>
            </a:r>
            <a:r>
              <a:rPr lang="en-US" sz="100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Optimiser les outils d'analyse et de prévision de l'activité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Oscar Rousset</cp:lastModifiedBy>
  <cp:revision>2</cp:revision>
  <dcterms:created xsi:type="dcterms:W3CDTF">2026-06-16T23:27:42Z</dcterms:created>
  <dcterms:modified xsi:type="dcterms:W3CDTF">2026-06-16T23:29:38Z</dcterms:modified>
</cp:coreProperties>
</file>