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24C7F1-1AE8-48B8-932D-4746D17F881C}" v="1" dt="2026-06-16T23:22:06.9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car Rousset" userId="438b0d8ad050c8f0" providerId="LiveId" clId="{F67C558F-9AD8-4E43-8CEB-EE30BAE507D4}"/>
    <pc:docChg chg="modSld">
      <pc:chgData name="Oscar Rousset" userId="438b0d8ad050c8f0" providerId="LiveId" clId="{F67C558F-9AD8-4E43-8CEB-EE30BAE507D4}" dt="2026-06-16T23:22:06.912" v="0"/>
      <pc:docMkLst>
        <pc:docMk/>
      </pc:docMkLst>
      <pc:sldChg chg="modSp">
        <pc:chgData name="Oscar Rousset" userId="438b0d8ad050c8f0" providerId="LiveId" clId="{F67C558F-9AD8-4E43-8CEB-EE30BAE507D4}" dt="2026-06-16T23:22:06.912" v="0"/>
        <pc:sldMkLst>
          <pc:docMk/>
          <pc:sldMk cId="0" sldId="256"/>
        </pc:sldMkLst>
        <pc:spChg chg="mod">
          <ac:chgData name="Oscar Rousset" userId="438b0d8ad050c8f0" providerId="LiveId" clId="{F67C558F-9AD8-4E43-8CEB-EE30BAE507D4}" dt="2026-06-16T23:22:06.912" v="0"/>
          <ac:spMkLst>
            <pc:docMk/>
            <pc:sldMk cId="0" sldId="256"/>
            <ac:spMk id="9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3752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ÉVALUER GC2F   ·   ÉTABLIR UN PLAN DE FINANCEMENT ÉQUILIBRÉ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601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Financer la reprise de MONAP Immobilier à 1 350 000 € : équilibre emplois-ressources, levier maîtrisé, annuité soutenable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0424160" y="493776"/>
            <a:ext cx="1234440" cy="384048"/>
          </a:xfrm>
          <a:prstGeom prst="roundRect">
            <a:avLst>
              <a:gd name="adj" fmla="val 16667"/>
            </a:avLst>
          </a:prstGeom>
          <a:solidFill>
            <a:srgbClr val="65B8B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424160" y="49377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AC35.03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3474720" cy="329184"/>
          </a:xfrm>
          <a:prstGeom prst="roundRect">
            <a:avLst>
              <a:gd name="adj" fmla="val 22222"/>
            </a:avLst>
          </a:prstGeom>
          <a:solidFill>
            <a:srgbClr val="48359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30936" y="1481328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810512"/>
            <a:ext cx="3474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30936" y="1810512"/>
            <a:ext cx="246888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Fonds de commerce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099816" y="1810512"/>
            <a:ext cx="859536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1 110 000 €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231136"/>
            <a:ext cx="3474720" cy="420624"/>
          </a:xfrm>
          <a:prstGeom prst="rect">
            <a:avLst/>
          </a:prstGeom>
          <a:solidFill>
            <a:srgbClr val="F0F3FA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30936" y="2231136"/>
            <a:ext cx="246888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postes (travaux, matériel, frais…)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99816" y="2231136"/>
            <a:ext cx="859536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90 000 €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651760"/>
            <a:ext cx="3474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30936" y="2651760"/>
            <a:ext cx="246888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de démarrage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099816" y="2651760"/>
            <a:ext cx="859536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150 000 €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072384"/>
            <a:ext cx="3474720" cy="420624"/>
          </a:xfrm>
          <a:prstGeom prst="rect">
            <a:avLst/>
          </a:prstGeom>
          <a:solidFill>
            <a:srgbClr val="E9ECF7"/>
          </a:solidFill>
          <a:ln w="6350">
            <a:solidFill>
              <a:srgbClr val="E0E4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30936" y="3072384"/>
            <a:ext cx="246888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99816" y="3072384"/>
            <a:ext cx="859536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1 350 000 €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032504" y="2231136"/>
            <a:ext cx="365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65B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3977640" y="3072384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89704" y="1481328"/>
            <a:ext cx="3749040" cy="329184"/>
          </a:xfrm>
          <a:prstGeom prst="roundRect">
            <a:avLst>
              <a:gd name="adj" fmla="val 22222"/>
            </a:avLst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617720" y="1481328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89704" y="1810512"/>
            <a:ext cx="37490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599432" y="1911096"/>
            <a:ext cx="365760" cy="365760"/>
          </a:xfrm>
          <a:prstGeom prst="ellipse">
            <a:avLst/>
          </a:prstGeom>
          <a:solidFill>
            <a:srgbClr val="6024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1993392"/>
            <a:ext cx="182880" cy="18288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7635240" y="1901952"/>
            <a:ext cx="493776" cy="219456"/>
          </a:xfrm>
          <a:prstGeom prst="roundRect">
            <a:avLst>
              <a:gd name="adj" fmla="val 20833"/>
            </a:avLst>
          </a:prstGeom>
          <a:solidFill>
            <a:srgbClr val="6024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/>
          <p:nvPr/>
        </p:nvSpPr>
        <p:spPr>
          <a:xfrm>
            <a:off x="7635240" y="190195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44,1 %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056632" y="186537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Apport personnel (5 × 119 k€)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056632" y="206654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024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595 000 €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4489704" y="2450592"/>
            <a:ext cx="37490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0"/>
          <p:cNvSpPr/>
          <p:nvPr/>
        </p:nvSpPr>
        <p:spPr>
          <a:xfrm>
            <a:off x="4599432" y="2551176"/>
            <a:ext cx="365760" cy="365760"/>
          </a:xfrm>
          <a:prstGeom prst="ellipse">
            <a:avLst/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633472"/>
            <a:ext cx="182880" cy="182880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7635240" y="2542032"/>
            <a:ext cx="493776" cy="219456"/>
          </a:xfrm>
          <a:prstGeom prst="roundRect">
            <a:avLst>
              <a:gd name="adj" fmla="val 20833"/>
            </a:avLst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2"/>
          <p:cNvSpPr/>
          <p:nvPr/>
        </p:nvSpPr>
        <p:spPr>
          <a:xfrm>
            <a:off x="7635240" y="254203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53,7 %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5056632" y="250545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bancaire (7 ans, 6 %)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5056632" y="270662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0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725 000 €</a:t>
            </a:r>
            <a:endParaRPr lang="en-US" sz="1700" dirty="0"/>
          </a:p>
        </p:txBody>
      </p:sp>
      <p:sp>
        <p:nvSpPr>
          <p:cNvPr id="39" name="Shape 35"/>
          <p:cNvSpPr/>
          <p:nvPr/>
        </p:nvSpPr>
        <p:spPr>
          <a:xfrm>
            <a:off x="4489704" y="3090672"/>
            <a:ext cx="37490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6"/>
          <p:cNvSpPr/>
          <p:nvPr/>
        </p:nvSpPr>
        <p:spPr>
          <a:xfrm>
            <a:off x="4599432" y="3191256"/>
            <a:ext cx="365760" cy="365760"/>
          </a:xfrm>
          <a:prstGeom prst="ellipse">
            <a:avLst/>
          </a:prstGeom>
          <a:solidFill>
            <a:srgbClr val="48359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3273552"/>
            <a:ext cx="182880" cy="182880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7635240" y="3182112"/>
            <a:ext cx="493776" cy="219456"/>
          </a:xfrm>
          <a:prstGeom prst="roundRect">
            <a:avLst>
              <a:gd name="adj" fmla="val 20833"/>
            </a:avLst>
          </a:prstGeom>
          <a:solidFill>
            <a:srgbClr val="48359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38"/>
          <p:cNvSpPr/>
          <p:nvPr/>
        </p:nvSpPr>
        <p:spPr>
          <a:xfrm>
            <a:off x="7635240" y="318211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2,2 %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5056632" y="314553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Facilité de caisse</a:t>
            </a:r>
            <a:endParaRPr lang="en-US" sz="1000" dirty="0"/>
          </a:p>
        </p:txBody>
      </p:sp>
      <p:sp>
        <p:nvSpPr>
          <p:cNvPr id="45" name="Text 40"/>
          <p:cNvSpPr/>
          <p:nvPr/>
        </p:nvSpPr>
        <p:spPr>
          <a:xfrm>
            <a:off x="5056632" y="334670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835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30 000 €</a:t>
            </a:r>
            <a:endParaRPr lang="en-US" sz="1700" dirty="0"/>
          </a:p>
        </p:txBody>
      </p:sp>
      <p:sp>
        <p:nvSpPr>
          <p:cNvPr id="46" name="Shape 41"/>
          <p:cNvSpPr/>
          <p:nvPr/>
        </p:nvSpPr>
        <p:spPr>
          <a:xfrm>
            <a:off x="4489704" y="3657600"/>
            <a:ext cx="3749040" cy="347472"/>
          </a:xfrm>
          <a:prstGeom prst="roundRect">
            <a:avLst>
              <a:gd name="adj" fmla="val 18421"/>
            </a:avLst>
          </a:prstGeom>
          <a:solidFill>
            <a:srgbClr val="E9ECF7"/>
          </a:solidFill>
          <a:ln w="12700">
            <a:solidFill>
              <a:srgbClr val="D2D8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2"/>
          <p:cNvSpPr/>
          <p:nvPr/>
        </p:nvSpPr>
        <p:spPr>
          <a:xfrm>
            <a:off x="4617720" y="36576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48" name="Text 43"/>
          <p:cNvSpPr/>
          <p:nvPr/>
        </p:nvSpPr>
        <p:spPr>
          <a:xfrm>
            <a:off x="7050024" y="365760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1 350 000 €</a:t>
            </a:r>
            <a:endParaRPr lang="en-US" sz="1100" dirty="0"/>
          </a:p>
        </p:txBody>
      </p:sp>
      <p:sp>
        <p:nvSpPr>
          <p:cNvPr id="49" name="Shape 44"/>
          <p:cNvSpPr/>
          <p:nvPr/>
        </p:nvSpPr>
        <p:spPr>
          <a:xfrm>
            <a:off x="8366760" y="1481328"/>
            <a:ext cx="3877056" cy="329184"/>
          </a:xfrm>
          <a:prstGeom prst="roundRect">
            <a:avLst>
              <a:gd name="adj" fmla="val 22222"/>
            </a:avLst>
          </a:prstGeom>
          <a:solidFill>
            <a:srgbClr val="6024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5"/>
          <p:cNvSpPr/>
          <p:nvPr/>
        </p:nvSpPr>
        <p:spPr>
          <a:xfrm>
            <a:off x="8494776" y="1481328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D'ÉQUILIBRE</a:t>
            </a:r>
            <a:endParaRPr lang="en-US" sz="1200" dirty="0"/>
          </a:p>
        </p:txBody>
      </p:sp>
      <p:sp>
        <p:nvSpPr>
          <p:cNvPr id="51" name="Shape 46"/>
          <p:cNvSpPr/>
          <p:nvPr/>
        </p:nvSpPr>
        <p:spPr>
          <a:xfrm>
            <a:off x="8366760" y="1810512"/>
            <a:ext cx="3877056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2" name="Shape 47"/>
          <p:cNvSpPr/>
          <p:nvPr/>
        </p:nvSpPr>
        <p:spPr>
          <a:xfrm>
            <a:off x="8476488" y="1929384"/>
            <a:ext cx="256032" cy="256032"/>
          </a:xfrm>
          <a:prstGeom prst="ellipse">
            <a:avLst/>
          </a:prstGeom>
          <a:solidFill>
            <a:srgbClr val="65B8B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0496" y="1975104"/>
            <a:ext cx="128016" cy="128016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8823960" y="184708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d'apport</a:t>
            </a:r>
            <a:endParaRPr lang="en-US" sz="950" dirty="0"/>
          </a:p>
        </p:txBody>
      </p:sp>
      <p:sp>
        <p:nvSpPr>
          <p:cNvPr id="55" name="Text 49"/>
          <p:cNvSpPr/>
          <p:nvPr/>
        </p:nvSpPr>
        <p:spPr>
          <a:xfrm>
            <a:off x="8823960" y="202996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0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50 %</a:t>
            </a:r>
            <a:endParaRPr lang="en-US" sz="1500" dirty="0"/>
          </a:p>
        </p:txBody>
      </p:sp>
      <p:sp>
        <p:nvSpPr>
          <p:cNvPr id="56" name="Text 50"/>
          <p:cNvSpPr/>
          <p:nvPr/>
        </p:nvSpPr>
        <p:spPr>
          <a:xfrm>
            <a:off x="10140696" y="204825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Plancher bancaire min. 20 % ✓</a:t>
            </a:r>
            <a:endParaRPr lang="en-US" sz="850" dirty="0"/>
          </a:p>
        </p:txBody>
      </p:sp>
      <p:sp>
        <p:nvSpPr>
          <p:cNvPr id="57" name="Shape 51"/>
          <p:cNvSpPr/>
          <p:nvPr/>
        </p:nvSpPr>
        <p:spPr>
          <a:xfrm>
            <a:off x="8366760" y="2377440"/>
            <a:ext cx="3877056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8" name="Shape 52"/>
          <p:cNvSpPr/>
          <p:nvPr/>
        </p:nvSpPr>
        <p:spPr>
          <a:xfrm>
            <a:off x="8476488" y="2496312"/>
            <a:ext cx="256032" cy="256032"/>
          </a:xfrm>
          <a:prstGeom prst="ellipse">
            <a:avLst/>
          </a:prstGeom>
          <a:solidFill>
            <a:srgbClr val="65B8B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0496" y="2542032"/>
            <a:ext cx="128016" cy="128016"/>
          </a:xfrm>
          <a:prstGeom prst="rect">
            <a:avLst/>
          </a:prstGeom>
        </p:spPr>
      </p:pic>
      <p:sp>
        <p:nvSpPr>
          <p:cNvPr id="60" name="Text 53"/>
          <p:cNvSpPr/>
          <p:nvPr/>
        </p:nvSpPr>
        <p:spPr>
          <a:xfrm>
            <a:off x="8823960" y="2414016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banque / projet</a:t>
            </a:r>
            <a:endParaRPr lang="en-US" sz="950" dirty="0"/>
          </a:p>
        </p:txBody>
      </p:sp>
      <p:sp>
        <p:nvSpPr>
          <p:cNvPr id="61" name="Text 54"/>
          <p:cNvSpPr/>
          <p:nvPr/>
        </p:nvSpPr>
        <p:spPr>
          <a:xfrm>
            <a:off x="8823960" y="25968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0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53,7 %</a:t>
            </a:r>
            <a:endParaRPr lang="en-US" sz="1500" dirty="0"/>
          </a:p>
        </p:txBody>
      </p:sp>
      <p:sp>
        <p:nvSpPr>
          <p:cNvPr id="62" name="Text 55"/>
          <p:cNvSpPr/>
          <p:nvPr/>
        </p:nvSpPr>
        <p:spPr>
          <a:xfrm>
            <a:off x="10140696" y="261518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Plafond bancaire max. 80 % ✓</a:t>
            </a:r>
            <a:endParaRPr lang="en-US" sz="850" dirty="0"/>
          </a:p>
        </p:txBody>
      </p:sp>
      <p:sp>
        <p:nvSpPr>
          <p:cNvPr id="63" name="Shape 56"/>
          <p:cNvSpPr/>
          <p:nvPr/>
        </p:nvSpPr>
        <p:spPr>
          <a:xfrm>
            <a:off x="8366760" y="2944368"/>
            <a:ext cx="3877056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4" name="Shape 57"/>
          <p:cNvSpPr/>
          <p:nvPr/>
        </p:nvSpPr>
        <p:spPr>
          <a:xfrm>
            <a:off x="8476488" y="3063240"/>
            <a:ext cx="256032" cy="256032"/>
          </a:xfrm>
          <a:prstGeom prst="ellipse">
            <a:avLst/>
          </a:prstGeom>
          <a:solidFill>
            <a:srgbClr val="65B8B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0496" y="3108960"/>
            <a:ext cx="128016" cy="128016"/>
          </a:xfrm>
          <a:prstGeom prst="rect">
            <a:avLst/>
          </a:prstGeom>
        </p:spPr>
      </p:pic>
      <p:sp>
        <p:nvSpPr>
          <p:cNvPr id="66" name="Text 58"/>
          <p:cNvSpPr/>
          <p:nvPr/>
        </p:nvSpPr>
        <p:spPr>
          <a:xfrm>
            <a:off x="8823960" y="2980944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Annuité / EBE 2026</a:t>
            </a:r>
            <a:endParaRPr lang="en-US" sz="950" dirty="0"/>
          </a:p>
        </p:txBody>
      </p:sp>
      <p:sp>
        <p:nvSpPr>
          <p:cNvPr id="67" name="Text 59"/>
          <p:cNvSpPr/>
          <p:nvPr/>
        </p:nvSpPr>
        <p:spPr>
          <a:xfrm>
            <a:off x="8823960" y="31638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0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32–36 %</a:t>
            </a:r>
            <a:endParaRPr lang="en-US" sz="1500" dirty="0"/>
          </a:p>
        </p:txBody>
      </p:sp>
      <p:sp>
        <p:nvSpPr>
          <p:cNvPr id="68" name="Text 60"/>
          <p:cNvSpPr/>
          <p:nvPr/>
        </p:nvSpPr>
        <p:spPr>
          <a:xfrm>
            <a:off x="10140696" y="318211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50 % = zone verte bancaire ✓</a:t>
            </a:r>
            <a:endParaRPr lang="en-US" sz="850" dirty="0"/>
          </a:p>
        </p:txBody>
      </p:sp>
      <p:sp>
        <p:nvSpPr>
          <p:cNvPr id="69" name="Shape 61"/>
          <p:cNvSpPr/>
          <p:nvPr/>
        </p:nvSpPr>
        <p:spPr>
          <a:xfrm>
            <a:off x="8366760" y="3511296"/>
            <a:ext cx="3877056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0" name="Shape 62"/>
          <p:cNvSpPr/>
          <p:nvPr/>
        </p:nvSpPr>
        <p:spPr>
          <a:xfrm>
            <a:off x="8476488" y="3630168"/>
            <a:ext cx="256032" cy="256032"/>
          </a:xfrm>
          <a:prstGeom prst="ellipse">
            <a:avLst/>
          </a:prstGeom>
          <a:solidFill>
            <a:srgbClr val="65B8B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1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0496" y="3675888"/>
            <a:ext cx="128016" cy="128016"/>
          </a:xfrm>
          <a:prstGeom prst="rect">
            <a:avLst/>
          </a:prstGeom>
        </p:spPr>
      </p:pic>
      <p:sp>
        <p:nvSpPr>
          <p:cNvPr id="72" name="Text 63"/>
          <p:cNvSpPr/>
          <p:nvPr/>
        </p:nvSpPr>
        <p:spPr>
          <a:xfrm>
            <a:off x="8823960" y="3547872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emplois − ressources</a:t>
            </a:r>
            <a:endParaRPr lang="en-US" sz="950" dirty="0"/>
          </a:p>
        </p:txBody>
      </p:sp>
      <p:sp>
        <p:nvSpPr>
          <p:cNvPr id="73" name="Text 64"/>
          <p:cNvSpPr/>
          <p:nvPr/>
        </p:nvSpPr>
        <p:spPr>
          <a:xfrm>
            <a:off x="8823960" y="373075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0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0 €</a:t>
            </a:r>
            <a:endParaRPr lang="en-US" sz="1500" dirty="0"/>
          </a:p>
        </p:txBody>
      </p:sp>
      <p:sp>
        <p:nvSpPr>
          <p:cNvPr id="74" name="Text 65"/>
          <p:cNvSpPr/>
          <p:nvPr/>
        </p:nvSpPr>
        <p:spPr>
          <a:xfrm>
            <a:off x="10140696" y="374904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Équilibre parfait</a:t>
            </a:r>
            <a:endParaRPr lang="en-US" sz="850" dirty="0"/>
          </a:p>
        </p:txBody>
      </p:sp>
      <p:sp>
        <p:nvSpPr>
          <p:cNvPr id="75" name="Shape 66"/>
          <p:cNvSpPr/>
          <p:nvPr/>
        </p:nvSpPr>
        <p:spPr>
          <a:xfrm>
            <a:off x="502920" y="4443984"/>
            <a:ext cx="11183112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6" name="Shape 67"/>
          <p:cNvSpPr/>
          <p:nvPr/>
        </p:nvSpPr>
        <p:spPr>
          <a:xfrm>
            <a:off x="502920" y="4590288"/>
            <a:ext cx="5029200" cy="329184"/>
          </a:xfrm>
          <a:prstGeom prst="roundRect">
            <a:avLst>
              <a:gd name="adj" fmla="val 19444"/>
            </a:avLst>
          </a:prstGeom>
          <a:solidFill>
            <a:srgbClr val="6024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7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" y="4663440"/>
            <a:ext cx="182880" cy="182880"/>
          </a:xfrm>
          <a:prstGeom prst="rect">
            <a:avLst/>
          </a:prstGeom>
        </p:spPr>
      </p:pic>
      <p:sp>
        <p:nvSpPr>
          <p:cNvPr id="78" name="Text 68"/>
          <p:cNvSpPr/>
          <p:nvPr/>
        </p:nvSpPr>
        <p:spPr>
          <a:xfrm>
            <a:off x="886968" y="45902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DÉFI</a:t>
            </a:r>
            <a:endParaRPr lang="en-US" sz="1000" dirty="0"/>
          </a:p>
        </p:txBody>
      </p:sp>
      <p:sp>
        <p:nvSpPr>
          <p:cNvPr id="79" name="Shape 69"/>
          <p:cNvSpPr/>
          <p:nvPr/>
        </p:nvSpPr>
        <p:spPr>
          <a:xfrm>
            <a:off x="5669280" y="4590288"/>
            <a:ext cx="6016752" cy="329184"/>
          </a:xfrm>
          <a:prstGeom prst="roundRect">
            <a:avLst>
              <a:gd name="adj" fmla="val 19444"/>
            </a:avLst>
          </a:prstGeom>
          <a:solidFill>
            <a:srgbClr val="65B8B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7296" y="4663440"/>
            <a:ext cx="182880" cy="182880"/>
          </a:xfrm>
          <a:prstGeom prst="rect">
            <a:avLst/>
          </a:prstGeom>
        </p:spPr>
      </p:pic>
      <p:sp>
        <p:nvSpPr>
          <p:cNvPr id="81" name="Text 70"/>
          <p:cNvSpPr/>
          <p:nvPr/>
        </p:nvSpPr>
        <p:spPr>
          <a:xfrm>
            <a:off x="6053328" y="4590288"/>
            <a:ext cx="5559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RÉPONSE</a:t>
            </a:r>
            <a:endParaRPr lang="en-US" sz="1000" dirty="0"/>
          </a:p>
        </p:txBody>
      </p:sp>
      <p:sp>
        <p:nvSpPr>
          <p:cNvPr id="82" name="Shape 71"/>
          <p:cNvSpPr/>
          <p:nvPr/>
        </p:nvSpPr>
        <p:spPr>
          <a:xfrm>
            <a:off x="502920" y="4974336"/>
            <a:ext cx="5029200" cy="530352"/>
          </a:xfrm>
          <a:prstGeom prst="roundRect">
            <a:avLst>
              <a:gd name="adj" fmla="val 12069"/>
            </a:avLst>
          </a:prstGeom>
          <a:solidFill>
            <a:srgbClr val="ECE5F1"/>
          </a:solidFill>
          <a:ln w="12700">
            <a:solidFill>
              <a:srgbClr val="DCD0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3" name="Text 72"/>
          <p:cNvSpPr/>
          <p:nvPr/>
        </p:nvSpPr>
        <p:spPr>
          <a:xfrm>
            <a:off x="630936" y="5029200"/>
            <a:ext cx="4791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le filtre bancaire tout en préservant la capacité financière de chaque associé.</a:t>
            </a:r>
            <a:endParaRPr lang="en-US" sz="950" dirty="0"/>
          </a:p>
        </p:txBody>
      </p:sp>
      <p:sp>
        <p:nvSpPr>
          <p:cNvPr id="84" name="Text 73"/>
          <p:cNvSpPr/>
          <p:nvPr/>
        </p:nvSpPr>
        <p:spPr>
          <a:xfrm>
            <a:off x="5586984" y="4974336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300" dirty="0"/>
          </a:p>
        </p:txBody>
      </p:sp>
      <p:sp>
        <p:nvSpPr>
          <p:cNvPr id="85" name="Shape 74"/>
          <p:cNvSpPr/>
          <p:nvPr/>
        </p:nvSpPr>
        <p:spPr>
          <a:xfrm>
            <a:off x="5669280" y="4974336"/>
            <a:ext cx="6016752" cy="530352"/>
          </a:xfrm>
          <a:prstGeom prst="roundRect">
            <a:avLst>
              <a:gd name="adj" fmla="val 12069"/>
            </a:avLst>
          </a:prstGeom>
          <a:solidFill>
            <a:srgbClr val="E4F1F0"/>
          </a:solidFill>
          <a:ln w="12700">
            <a:solidFill>
              <a:srgbClr val="C9E2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6" name="Text 75"/>
          <p:cNvSpPr/>
          <p:nvPr/>
        </p:nvSpPr>
        <p:spPr>
          <a:xfrm>
            <a:off x="5797296" y="5029200"/>
            <a:ext cx="5779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Apport = 44 % du projet (&gt; 20 %) · 119 k€/associé · Part banque = 53,7 % (&lt; 80 %) · CCA 160 k€ optimise la structure du passif.</a:t>
            </a:r>
            <a:endParaRPr lang="en-US" sz="950" dirty="0"/>
          </a:p>
        </p:txBody>
      </p:sp>
      <p:sp>
        <p:nvSpPr>
          <p:cNvPr id="87" name="Shape 76"/>
          <p:cNvSpPr/>
          <p:nvPr/>
        </p:nvSpPr>
        <p:spPr>
          <a:xfrm>
            <a:off x="502920" y="5568696"/>
            <a:ext cx="5029200" cy="530352"/>
          </a:xfrm>
          <a:prstGeom prst="roundRect">
            <a:avLst>
              <a:gd name="adj" fmla="val 12069"/>
            </a:avLst>
          </a:prstGeom>
          <a:solidFill>
            <a:srgbClr val="ECE5F1"/>
          </a:solidFill>
          <a:ln w="12700">
            <a:solidFill>
              <a:srgbClr val="DCD0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8" name="Text 77"/>
          <p:cNvSpPr/>
          <p:nvPr/>
        </p:nvSpPr>
        <p:spPr>
          <a:xfrm>
            <a:off x="630936" y="5623560"/>
            <a:ext cx="4791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S'assurer que l'annuité bancaire (125 294 €/an) reste soutenable au regard des flux opérationnels.</a:t>
            </a:r>
            <a:endParaRPr lang="en-US" sz="950" dirty="0"/>
          </a:p>
        </p:txBody>
      </p:sp>
      <p:sp>
        <p:nvSpPr>
          <p:cNvPr id="89" name="Text 78"/>
          <p:cNvSpPr/>
          <p:nvPr/>
        </p:nvSpPr>
        <p:spPr>
          <a:xfrm>
            <a:off x="5586984" y="5568696"/>
            <a:ext cx="109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300" dirty="0"/>
          </a:p>
        </p:txBody>
      </p:sp>
      <p:sp>
        <p:nvSpPr>
          <p:cNvPr id="90" name="Shape 79"/>
          <p:cNvSpPr/>
          <p:nvPr/>
        </p:nvSpPr>
        <p:spPr>
          <a:xfrm>
            <a:off x="5669280" y="5568696"/>
            <a:ext cx="6016752" cy="530352"/>
          </a:xfrm>
          <a:prstGeom prst="roundRect">
            <a:avLst>
              <a:gd name="adj" fmla="val 12069"/>
            </a:avLst>
          </a:prstGeom>
          <a:solidFill>
            <a:srgbClr val="E4F1F0"/>
          </a:solidFill>
          <a:ln w="12700">
            <a:solidFill>
              <a:srgbClr val="C9E2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1" name="Text 80"/>
          <p:cNvSpPr/>
          <p:nvPr/>
        </p:nvSpPr>
        <p:spPr>
          <a:xfrm>
            <a:off x="5797296" y="5623560"/>
            <a:ext cx="5779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Annuité / EBE 2026 = 32–36 % sur 2026–2029, bien sous le seuil de vigilance de 50 % · Pas de tension de trésorerie prévisible.</a:t>
            </a:r>
            <a:endParaRPr lang="en-US" sz="950" dirty="0"/>
          </a:p>
        </p:txBody>
      </p:sp>
      <p:sp>
        <p:nvSpPr>
          <p:cNvPr id="92" name="Shape 81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400C6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3" name="Shape 82"/>
          <p:cNvSpPr/>
          <p:nvPr/>
        </p:nvSpPr>
        <p:spPr>
          <a:xfrm>
            <a:off x="502920" y="6501384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65B8B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4" name="Text 83"/>
          <p:cNvSpPr/>
          <p:nvPr/>
        </p:nvSpPr>
        <p:spPr>
          <a:xfrm>
            <a:off x="502920" y="65013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AC35.03</a:t>
            </a:r>
            <a:endParaRPr lang="en-US" sz="1000" dirty="0"/>
          </a:p>
        </p:txBody>
      </p:sp>
      <p:sp>
        <p:nvSpPr>
          <p:cNvPr id="95" name="Text 84"/>
          <p:cNvSpPr/>
          <p:nvPr/>
        </p:nvSpPr>
        <p:spPr>
          <a:xfrm>
            <a:off x="1719072" y="6419088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Établir un plan de financement équilibré</a:t>
            </a:r>
            <a:endParaRPr lang="en-US" sz="1200" dirty="0"/>
          </a:p>
        </p:txBody>
      </p:sp>
      <p:sp>
        <p:nvSpPr>
          <p:cNvPr id="96" name="Text 85"/>
          <p:cNvSpPr/>
          <p:nvPr/>
        </p:nvSpPr>
        <p:spPr>
          <a:xfrm>
            <a:off x="7680960" y="641908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ÉVALUER GC2F </a:t>
            </a:r>
            <a:r>
              <a:rPr lang="en-US" sz="1000" dirty="0">
                <a:solidFill>
                  <a:srgbClr val="C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Optimiser les outils d'analyse et de prévision de l'activité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</Words>
  <Application>Microsoft Office PowerPoint</Application>
  <PresentationFormat>Custom</PresentationFormat>
  <Paragraphs>51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Oscar Rousset</cp:lastModifiedBy>
  <cp:revision>1</cp:revision>
  <dcterms:created xsi:type="dcterms:W3CDTF">2026-06-16T23:19:25Z</dcterms:created>
  <dcterms:modified xsi:type="dcterms:W3CDTF">2026-06-16T23:22:14Z</dcterms:modified>
</cp:coreProperties>
</file>