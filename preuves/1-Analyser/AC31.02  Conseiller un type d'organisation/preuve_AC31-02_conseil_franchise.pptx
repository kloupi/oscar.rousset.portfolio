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13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  ·   CONSEILLER UN TYPE D'ORGANISATION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Recommander à Adopt la franchise pour s'internationaliser sans alourdir son bilan ni diluer son image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530352"/>
          </a:xfrm>
          <a:prstGeom prst="roundRect">
            <a:avLst>
              <a:gd name="adj" fmla="val 12069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 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d'analyse financière en groupe : diagnostiquer le groupe </a:t>
            </a:r>
            <a:r>
              <a:rPr lang="en-US" sz="12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(leader français du parfum en volume) et lui </a:t>
            </a:r>
            <a:r>
              <a:rPr lang="en-US" sz="12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une stratégie de croissance internationale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DIAGNOSTIC À LA RECOMMANDATION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04088" y="2798064"/>
            <a:ext cx="512064" cy="512064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04088" y="2798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5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financière d'Adopt : domination par les coûts, intégration verticale totale, 169 M€ de ventes (2024).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" y="36027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04088" y="4041648"/>
            <a:ext cx="512064" cy="512064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408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5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3858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STRATÉGIQUE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17320" y="4133088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Croître à l'international sans diluer l'image de marque ni immobiliser de capital.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" y="484632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974336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04088" y="5285232"/>
            <a:ext cx="512064" cy="512064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04088" y="5285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5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51023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17320" y="5376672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l'expansion autour du modèle de franchise - un type d'organisation répartissant la distribution en 3 piliers : succursales en propre (image) + affiliés + franchises (vitesse).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2139696"/>
            <a:ext cx="5788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FRANCHISE ?  LE RAISONNEMENT FINANCIER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487168"/>
            <a:ext cx="27569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35624" y="2706624"/>
            <a:ext cx="566928" cy="566928"/>
          </a:xfrm>
          <a:prstGeom prst="ellipse">
            <a:avLst/>
          </a:prstGeom>
          <a:solidFill>
            <a:srgbClr val="E9ECF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843784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135624" y="3328416"/>
            <a:ext cx="2299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fixes maîtrisés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135624" y="3621024"/>
            <a:ext cx="22997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~8 000 € portée par le franchisé. Adopt n'alourdit pas ses coûts fixes → EBITDA amélioré mécaniquement.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8929116" y="2487168"/>
            <a:ext cx="27569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9166860" y="2706624"/>
            <a:ext cx="566928" cy="566928"/>
          </a:xfrm>
          <a:prstGeom prst="ellipse">
            <a:avLst/>
          </a:prstGeom>
          <a:solidFill>
            <a:srgbClr val="E9ECF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2843784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66860" y="3328416"/>
            <a:ext cx="2299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allégé, ROE amélioré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166860" y="3621024"/>
            <a:ext cx="22997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et boutiques sortis du bilan, zéro amortissement boutique → le résultat croît sans gonfler les fonds propres.</a:t>
            </a:r>
            <a:endParaRPr lang="en-US" sz="1030" dirty="0"/>
          </a:p>
        </p:txBody>
      </p:sp>
      <p:sp>
        <p:nvSpPr>
          <p:cNvPr id="38" name="Shape 34"/>
          <p:cNvSpPr/>
          <p:nvPr/>
        </p:nvSpPr>
        <p:spPr>
          <a:xfrm>
            <a:off x="5897880" y="4453128"/>
            <a:ext cx="27569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5"/>
          <p:cNvSpPr/>
          <p:nvPr/>
        </p:nvSpPr>
        <p:spPr>
          <a:xfrm>
            <a:off x="6135624" y="4672584"/>
            <a:ext cx="566928" cy="566928"/>
          </a:xfrm>
          <a:prstGeom prst="ellipse">
            <a:avLst/>
          </a:prstGeom>
          <a:solidFill>
            <a:srgbClr val="E9ECF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4809744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35624" y="5294376"/>
            <a:ext cx="2299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Endettement préservé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135624" y="5586984"/>
            <a:ext cx="22997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capital immobilisé en boutiques → la dette reste disponible pour l'investissement clé (usine Château-Renard, 15 M€).</a:t>
            </a:r>
            <a:endParaRPr lang="en-US" sz="1030" dirty="0"/>
          </a:p>
        </p:txBody>
      </p:sp>
      <p:sp>
        <p:nvSpPr>
          <p:cNvPr id="43" name="Shape 38"/>
          <p:cNvSpPr/>
          <p:nvPr/>
        </p:nvSpPr>
        <p:spPr>
          <a:xfrm>
            <a:off x="8929116" y="4453128"/>
            <a:ext cx="27569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39"/>
          <p:cNvSpPr/>
          <p:nvPr/>
        </p:nvSpPr>
        <p:spPr>
          <a:xfrm>
            <a:off x="9166860" y="4672584"/>
            <a:ext cx="566928" cy="566928"/>
          </a:xfrm>
          <a:prstGeom prst="ellipse">
            <a:avLst/>
          </a:prstGeom>
          <a:solidFill>
            <a:srgbClr val="E9ECF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4809744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9166860" y="5294376"/>
            <a:ext cx="2299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9166860" y="5586984"/>
            <a:ext cx="22997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d'entrée 10 000 € HT + redevances 5–7 % du CA + droits territoriaux master-franchisés (50–200 k€).</a:t>
            </a:r>
            <a:endParaRPr lang="en-US" sz="1030" dirty="0"/>
          </a:p>
        </p:txBody>
      </p:sp>
      <p:sp>
        <p:nvSpPr>
          <p:cNvPr id="48" name="Shape 42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3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4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AC31.02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1755648" y="632764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Conseiller un type d'organisation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6035040" y="632764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Conseiller pour l'amélioration des processus de l'organisation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  ·   CONSEILLER UN TYPE D'ORGANISATION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l'image de marque malgré la franchise : sélection stricte, succursales-pilotes et arbitrage assumé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877824"/>
          </a:xfrm>
          <a:prstGeom prst="roundRect">
            <a:avLst>
              <a:gd name="adj" fmla="val 8333"/>
            </a:avLst>
          </a:prstGeom>
          <a:solidFill>
            <a:srgbClr val="1F3089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5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25880" y="1517904"/>
            <a:ext cx="10195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quelle mesure l'internationalisation est-elle un levier de croissance durable, et comment le modèle de franchise concilie-t-il expansion géographique et préservation de l'image de marque 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5504688" cy="420624"/>
          </a:xfrm>
          <a:prstGeom prst="roundRect">
            <a:avLst>
              <a:gd name="adj" fmla="val 15217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60604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2505456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IDENTIFIÉS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99632" y="2505456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9984" y="2505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APPORTÉES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02920" y="3035808"/>
            <a:ext cx="5504688" cy="932688"/>
          </a:xfrm>
          <a:prstGeom prst="roundRect">
            <a:avLst>
              <a:gd name="adj" fmla="val 6863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3924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108960"/>
            <a:ext cx="4544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contrôle de l'expérience client → risque de dilution de l'image de marque haut de gamme.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16752" y="3035808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99632" y="3035808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6382512" y="3273552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3924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6872" y="3108960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rigoureuse des franchisés, formation initiale à la philosophie de marque et audits terrain réguliers.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" y="4096512"/>
            <a:ext cx="5504688" cy="932688"/>
          </a:xfrm>
          <a:prstGeom prst="roundRect">
            <a:avLst>
              <a:gd name="adj" fmla="val 6863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685800" y="4334256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45312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169664"/>
            <a:ext cx="4544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ambigu sur certains marchés (Allemagne, R-U) : perçu « ultra low-cost » plutôt qu'« accessible chic ».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016752" y="4096512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199632" y="4096512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6382512" y="4334256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4453128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76872" y="4169664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du pilote : une succursale en propre par marché, référence vivante du concept ; filiales directes sur les marchés culturellement proches, franchise pour l'expansion rapide.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02920" y="5157216"/>
            <a:ext cx="5504688" cy="932688"/>
          </a:xfrm>
          <a:prstGeom prst="roundRect">
            <a:avLst>
              <a:gd name="adj" fmla="val 6863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685800" y="5394960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551383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5230368"/>
            <a:ext cx="4544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 unitaire moindre (5–7 % de redevance vs 60–70 % de marge en filiale) ; créances douteuses si un franchisé sous-performe.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016752" y="5157216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199632" y="5157216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6382512" y="5394960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551383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76872" y="5230368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assumé : la franchise n'immobilise aucun capital et préserve la trésorerie ; le moindre taux est compensé par la vitesse de déploiement et un risque capitalistique nul.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4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5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AC31.02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1755648" y="632764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Conseiller un type d'organisation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6035040" y="632764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Conseiller pour l'amélioration des processus de l'organisation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Custom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Preuve AC31.02 — Conseiller un type d'organisation</dc:title>
  <dc:subject>PptxGenJS Presentation</dc:subject>
  <dc:creator>Oscar Rousset</dc:creator>
  <cp:lastModifiedBy>Oscar Rousset</cp:lastModifiedBy>
  <cp:revision>2</cp:revision>
  <dcterms:created xsi:type="dcterms:W3CDTF">2026-06-16T17:07:11Z</dcterms:created>
  <dcterms:modified xsi:type="dcterms:W3CDTF">2026-06-16T17:10:00Z</dcterms:modified>
</cp:coreProperties>
</file>