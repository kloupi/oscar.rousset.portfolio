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373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  ·   PROPOSER DES AMÉLIORATIONS DES PROCESSUS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Remplacer le testing manuel des attestations CPA1/CPA2 par un kit de macros VBA : ~200 h libérées par an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378440" y="457200"/>
            <a:ext cx="1307592" cy="45720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 w="12700">
            <a:solidFill>
              <a:srgbClr val="65B8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78440" y="4572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530352"/>
          </a:xfrm>
          <a:prstGeom prst="roundRect">
            <a:avLst>
              <a:gd name="adj" fmla="val 12069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149961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 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d'alternance chez </a:t>
            </a:r>
            <a:r>
              <a:rPr lang="en-US" sz="125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 Asset Management) : automatiser la phase de testing des arrêtés </a:t>
            </a:r>
            <a:r>
              <a:rPr lang="en-US" sz="12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comptables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attestations CPA1 / CPA2 et </a:t>
            </a:r>
            <a:r>
              <a:rPr lang="en-US" sz="12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clôtures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sur workpapers Excel.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L'AMÉLIORATION DU PROCESSUS  ·  AVANT → APRÈS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3419856" cy="2029968"/>
          </a:xfrm>
          <a:prstGeom prst="roundRect">
            <a:avLst>
              <a:gd name="adj" fmla="val 4054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58952" y="2706624"/>
            <a:ext cx="512064" cy="512064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3464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99032" y="2724912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- le testing manuel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3310128"/>
            <a:ext cx="28895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Cadrages manuels (balance, inventaire, dépositaire)</a:t>
            </a:r>
            <a:endParaRPr lang="en-US" sz="1030" dirty="0"/>
          </a:p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Reformatages répétés, procédures non standardisées</a:t>
            </a:r>
            <a:endParaRPr lang="en-US" sz="1030" dirty="0"/>
          </a:p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CPA1 + CPA2 ≈ 1 028 min / sem. / alternant (enquête 12 alternants)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3904488" y="2468880"/>
            <a:ext cx="4937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79976" y="2468880"/>
            <a:ext cx="3419856" cy="2029968"/>
          </a:xfrm>
          <a:prstGeom prst="roundRect">
            <a:avLst>
              <a:gd name="adj" fmla="val 4054"/>
            </a:avLst>
          </a:prstGeom>
          <a:solidFill>
            <a:srgbClr val="1F3089"/>
          </a:solidFill>
          <a:ln w="12700">
            <a:solidFill>
              <a:srgbClr val="1F3089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636008" y="2706624"/>
            <a:ext cx="512064" cy="512064"/>
          </a:xfrm>
          <a:prstGeom prst="ellipse">
            <a:avLst/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83464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76088" y="2724912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 - le kit de macros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654296" y="3310128"/>
            <a:ext cx="28895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macros VBA : AM, G50, H50, G310 - les 4 tests à plus fort gain</a:t>
            </a:r>
            <a:endParaRPr lang="en-US" sz="1030" dirty="0"/>
          </a:p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Isolées dans PERSONAL.XLSB, lancées par raccourci clavier</a:t>
            </a:r>
            <a:endParaRPr lang="en-US" sz="1030" dirty="0"/>
          </a:p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d'intégration de 30 pages → solution autonome</a:t>
            </a:r>
            <a:endParaRPr lang="en-US" sz="1030" dirty="0"/>
          </a:p>
        </p:txBody>
      </p:sp>
      <p:sp>
        <p:nvSpPr>
          <p:cNvPr id="21" name="Text 17"/>
          <p:cNvSpPr/>
          <p:nvPr/>
        </p:nvSpPr>
        <p:spPr>
          <a:xfrm>
            <a:off x="7781544" y="2468880"/>
            <a:ext cx="4937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8257032" y="2468880"/>
            <a:ext cx="3419856" cy="2029968"/>
          </a:xfrm>
          <a:prstGeom prst="roundRect">
            <a:avLst>
              <a:gd name="adj" fmla="val 4054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8513064" y="2706624"/>
            <a:ext cx="512064" cy="512064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834640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53144" y="2724912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- le testing automatisé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531352" y="3310128"/>
            <a:ext cx="28895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forme, cadrage et conclusion en quelques secondes</a:t>
            </a:r>
            <a:endParaRPr lang="en-US" sz="1030" dirty="0"/>
          </a:p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tests couverts (CPA1 / CPA2 / Clôture)</a:t>
            </a:r>
            <a:endParaRPr lang="en-US" sz="1030" dirty="0"/>
          </a:p>
          <a:p>
            <a:pPr marL="152400" indent="-1524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Recentrage des équipes sur l'analyse à valeur ajoutée</a:t>
            </a:r>
            <a:endParaRPr lang="en-US" sz="1030" dirty="0"/>
          </a:p>
        </p:txBody>
      </p:sp>
      <p:sp>
        <p:nvSpPr>
          <p:cNvPr id="27" name="Text 22"/>
          <p:cNvSpPr/>
          <p:nvPr/>
        </p:nvSpPr>
        <p:spPr>
          <a:xfrm>
            <a:off x="502920" y="460857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MESURÉS   </a:t>
            </a:r>
            <a:r>
              <a:rPr lang="en-US" sz="110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initiaux surestimés (22 min/compo visées) mais gain net et mesurable confirmé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02920" y="4901184"/>
            <a:ext cx="259003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594360" y="5084064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 h</a:t>
            </a:r>
            <a:endParaRPr lang="en-US" sz="3000" dirty="0"/>
          </a:p>
        </p:txBody>
      </p:sp>
      <p:sp>
        <p:nvSpPr>
          <p:cNvPr id="30" name="Text 25"/>
          <p:cNvSpPr/>
          <p:nvPr/>
        </p:nvSpPr>
        <p:spPr>
          <a:xfrm>
            <a:off x="612648" y="5632704"/>
            <a:ext cx="23705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libérées par an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367278" y="4901184"/>
            <a:ext cx="259003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3458718" y="5084064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28,5</a:t>
            </a:r>
            <a:endParaRPr lang="en-US" sz="3000" dirty="0"/>
          </a:p>
        </p:txBody>
      </p:sp>
      <p:sp>
        <p:nvSpPr>
          <p:cNvPr id="33" name="Text 28"/>
          <p:cNvSpPr/>
          <p:nvPr/>
        </p:nvSpPr>
        <p:spPr>
          <a:xfrm>
            <a:off x="3477006" y="5632704"/>
            <a:ext cx="23705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jours-homme / an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231636" y="4901184"/>
            <a:ext cx="259003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6323076" y="5084064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3 270 €</a:t>
            </a:r>
            <a:endParaRPr lang="en-US" sz="3000" dirty="0"/>
          </a:p>
        </p:txBody>
      </p:sp>
      <p:sp>
        <p:nvSpPr>
          <p:cNvPr id="36" name="Text 31"/>
          <p:cNvSpPr/>
          <p:nvPr/>
        </p:nvSpPr>
        <p:spPr>
          <a:xfrm>
            <a:off x="6341364" y="5632704"/>
            <a:ext cx="23705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chargé économisé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9095994" y="4901184"/>
            <a:ext cx="259003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33"/>
          <p:cNvSpPr/>
          <p:nvPr/>
        </p:nvSpPr>
        <p:spPr>
          <a:xfrm>
            <a:off x="9187434" y="5084064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4,15/5</a:t>
            </a:r>
            <a:endParaRPr lang="en-US" sz="3000" dirty="0"/>
          </a:p>
        </p:txBody>
      </p:sp>
      <p:sp>
        <p:nvSpPr>
          <p:cNvPr id="39" name="Text 34"/>
          <p:cNvSpPr/>
          <p:nvPr/>
        </p:nvSpPr>
        <p:spPr>
          <a:xfrm>
            <a:off x="9205722" y="5632704"/>
            <a:ext cx="23705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utilisateurs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6"/>
          <p:cNvSpPr/>
          <p:nvPr/>
        </p:nvSpPr>
        <p:spPr>
          <a:xfrm>
            <a:off x="502920" y="6446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7"/>
          <p:cNvSpPr/>
          <p:nvPr/>
        </p:nvSpPr>
        <p:spPr>
          <a:xfrm>
            <a:off x="502920" y="6446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AC31.03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1755648" y="63276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Proposer des améliorations des processus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6675120" y="63276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</a:t>
            </a:r>
            <a:r>
              <a:rPr lang="en-US" sz="105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Conseiller pour l'amélioration des processus de l'organisation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  ·   PROPOSER DES AMÉLIORATIONS DES PROCESSUS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Intégrer les macros sans corrompre les workpapers clients ni perdre la confiance des auditeurs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378440" y="457200"/>
            <a:ext cx="1307592" cy="45720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 w="12700">
            <a:solidFill>
              <a:srgbClr val="65B8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78440" y="4572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676656"/>
          </a:xfrm>
          <a:prstGeom prst="roundRect">
            <a:avLst>
              <a:gd name="adj" fmla="val 10811"/>
            </a:avLst>
          </a:prstGeom>
          <a:solidFill>
            <a:srgbClr val="1F3089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007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99616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DES RISQUES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analyse probabilité × impact menée avant tout déploiement a isolé trois risques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majeurs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chacun neutralisé par un choix de conception ou un dispositif d'accompagnement.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340864"/>
            <a:ext cx="5504688" cy="420624"/>
          </a:xfrm>
          <a:prstGeom prst="roundRect">
            <a:avLst>
              <a:gd name="adj" fmla="val 15217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4414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3272" y="2340864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IDENTIFIÉ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99632" y="2340864"/>
            <a:ext cx="5486400" cy="420624"/>
          </a:xfrm>
          <a:prstGeom prst="roundRect">
            <a:avLst>
              <a:gd name="adj" fmla="val 1521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4144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9984" y="234086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DE CONCEPTION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2920" y="2871216"/>
            <a:ext cx="5504688" cy="950976"/>
          </a:xfrm>
          <a:prstGeom prst="roundRect">
            <a:avLst>
              <a:gd name="adj" fmla="val 673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685800" y="3118104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/>
          <p:nvPr/>
        </p:nvSpPr>
        <p:spPr>
          <a:xfrm>
            <a:off x="6858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2926080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technique - impact élevé.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Intégration dans un environnement Excel saturé de macros : conflits possibles et altération des outils en production.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16752" y="2871216"/>
            <a:ext cx="182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99632" y="2871216"/>
            <a:ext cx="5486400" cy="950976"/>
          </a:xfrm>
          <a:prstGeom prst="roundRect">
            <a:avLst>
              <a:gd name="adj" fmla="val 673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6382512" y="3118104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323697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76872" y="292608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isolées dans PERSONAL.XLSB : aucun workpaper client n'est modifié. Chaque macro vérifie le nom de l'onglet avant de s'exécuter, sinon elle s'arrête.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02920" y="3950208"/>
            <a:ext cx="5504688" cy="950976"/>
          </a:xfrm>
          <a:prstGeom prst="roundRect">
            <a:avLst>
              <a:gd name="adj" fmla="val 673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6858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280160" y="4005072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 </a:t>
            </a:r>
            <a:r>
              <a:rPr lang="en-US" sz="1050" b="1" dirty="0" err="1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impact modéré.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Réticence à confier des fichiers d'audit à une automatisation ; enjeux de transparence et de traçabilité.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016752" y="3950208"/>
            <a:ext cx="182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199632" y="3950208"/>
            <a:ext cx="5486400" cy="950976"/>
          </a:xfrm>
          <a:prstGeom prst="roundRect">
            <a:avLst>
              <a:gd name="adj" fmla="val 673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5"/>
          <p:cNvSpPr/>
          <p:nvPr/>
        </p:nvSpPr>
        <p:spPr>
          <a:xfrm>
            <a:off x="6382512" y="4197096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315968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976872" y="400507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communication ciblé par partie prenante + guide 30 pages et démo. La revue manager et la signature restent en aval : le contrôle d'audit est préservé.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02920" y="5029200"/>
            <a:ext cx="5504688" cy="950976"/>
          </a:xfrm>
          <a:prstGeom prst="roundRect">
            <a:avLst>
              <a:gd name="adj" fmla="val 673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685800" y="5276088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29"/>
          <p:cNvSpPr/>
          <p:nvPr/>
        </p:nvSpPr>
        <p:spPr>
          <a:xfrm>
            <a:off x="68580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280160" y="5084064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 err="1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Pérennité</a:t>
            </a: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impact modéré.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Workpapers et procédures évoluent : risque d'obsolescence rapide ou de maintenance coûteuse.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016752" y="5029200"/>
            <a:ext cx="182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199632" y="5029200"/>
            <a:ext cx="5486400" cy="950976"/>
          </a:xfrm>
          <a:prstGeom prst="roundRect">
            <a:avLst>
              <a:gd name="adj" fmla="val 673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6382512" y="5276088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5394960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976872" y="508406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centralisée en un seul point, code épuré (V2/VF) et guide pas-à-pas rendant la solution autonome et déployable par tous.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6"/>
          <p:cNvSpPr/>
          <p:nvPr/>
        </p:nvSpPr>
        <p:spPr>
          <a:xfrm>
            <a:off x="502920" y="6446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7"/>
          <p:cNvSpPr/>
          <p:nvPr/>
        </p:nvSpPr>
        <p:spPr>
          <a:xfrm>
            <a:off x="502920" y="6446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AC31.03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1755648" y="63276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Proposer des améliorations des processus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6675120" y="63276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ANALYSER </a:t>
            </a:r>
            <a:r>
              <a:rPr lang="en-US" sz="105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Conseiller pour l'amélioration des processus de l'organisation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Custom</PresentationFormat>
  <Paragraphs>54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Preuve AC31.03 — Proposer des améliorations des processus</dc:title>
  <dc:subject>PptxGenJS Presentation</dc:subject>
  <dc:creator>Oscar Rousset</dc:creator>
  <cp:lastModifiedBy>Oscar Rousset</cp:lastModifiedBy>
  <cp:revision>2</cp:revision>
  <dcterms:created xsi:type="dcterms:W3CDTF">2026-06-16T17:16:56Z</dcterms:created>
  <dcterms:modified xsi:type="dcterms:W3CDTF">2026-06-16T17:19:07Z</dcterms:modified>
</cp:coreProperties>
</file>