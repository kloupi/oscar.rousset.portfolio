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5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PRODUIRE GC2F   ·   RÉSOUDRE LES PROBLÈMES D'ÉVALUATION DES ACTIFS ET PASSIFS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Valoriser MONAP Immobilier à 1 110 801 € : DCF et méthode des comparables convergent à moins de 8 %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24160" y="493776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0" y="493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AC34.01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Reprise - MONAP Immobilier  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d'une agence immobilière (5 associés). Problème central : fixer un prix de reprise sans prix de marché directement observable. Réponse : double méthode </a:t>
            </a:r>
            <a:r>
              <a:rPr lang="en-US" sz="10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indépendante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DCF (flux futurs actualisés) + comparable (multiple EBE) - confrontées pour valider la robustesse de l'évaluation.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6995160" cy="310896"/>
          </a:xfrm>
          <a:prstGeom prst="roundRect">
            <a:avLst>
              <a:gd name="adj" fmla="val 20588"/>
            </a:avLst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" y="2084832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DCF - Discounted Cash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793" y="2568774"/>
            <a:ext cx="6995160" cy="457200"/>
          </a:xfrm>
          <a:prstGeom prst="roundRect">
            <a:avLst>
              <a:gd name="adj" fmla="val 14000"/>
            </a:avLst>
          </a:prstGeom>
          <a:solidFill>
            <a:srgbClr val="FBF1DC"/>
          </a:solidFill>
          <a:ln w="12700">
            <a:solidFill>
              <a:srgbClr val="E8D9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809" y="256877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=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75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(poids)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2575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587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CP (Ke)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8587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599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(poids)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4599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11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dette (Kd)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0611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23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WACC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6623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6,6 %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353" y="258706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terminal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6353" y="275165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218688"/>
            <a:ext cx="64008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6400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43000" y="3218688"/>
            <a:ext cx="118872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14300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31720" y="3218688"/>
            <a:ext cx="160020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331720" y="3218688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d'act.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3218688"/>
            <a:ext cx="128016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93192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actualisé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0" y="3218688"/>
            <a:ext cx="137160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2120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cumulé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493008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02920" y="3493008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143000" y="3493008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14300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88 785 €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31720" y="3493008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331720" y="3493008"/>
            <a:ext cx="1600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31920" y="349300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93192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81 454 €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12080" y="349300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21208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81 454 €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749040"/>
            <a:ext cx="64008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02920" y="3749040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143000" y="3749040"/>
            <a:ext cx="118872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14300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103 154 €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331720" y="3749040"/>
            <a:ext cx="160020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31720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1,188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31920" y="3749040"/>
            <a:ext cx="128016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93192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86 823 €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12080" y="3749040"/>
            <a:ext cx="137160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521208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168 277 €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400507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50292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143000" y="4005072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114300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110 163 €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331720" y="4005072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33172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931920" y="4005072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393192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85 066 €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12080" y="4005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521208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253 343 €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4261104"/>
            <a:ext cx="64008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502920" y="4261104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143000" y="4261104"/>
            <a:ext cx="118872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1143000" y="4261104"/>
            <a:ext cx="1188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110 034 €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331720" y="4261104"/>
            <a:ext cx="160020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2331720" y="4261104"/>
            <a:ext cx="1600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931920" y="4261104"/>
            <a:ext cx="128016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3931920" y="4261104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77 951 €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212080" y="4261104"/>
            <a:ext cx="137160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521208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331 294 €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34340" y="4904635"/>
            <a:ext cx="6995160" cy="585216"/>
          </a:xfrm>
          <a:prstGeom prst="roundRect">
            <a:avLst>
              <a:gd name="adj" fmla="val 10938"/>
            </a:avLst>
          </a:prstGeom>
          <a:solidFill>
            <a:srgbClr val="1F3089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525780" y="495949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FCF actualisés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25780" y="514237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331 294 €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2482596" y="4996075"/>
            <a:ext cx="0" cy="402336"/>
          </a:xfrm>
          <a:prstGeom prst="line">
            <a:avLst/>
          </a:prstGeom>
          <a:noFill/>
          <a:ln w="9525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2537460" y="495949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VT actualisée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537460" y="51423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779 507 €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4585716" y="4996075"/>
            <a:ext cx="0" cy="402336"/>
          </a:xfrm>
          <a:prstGeom prst="line">
            <a:avLst/>
          </a:prstGeom>
          <a:noFill/>
          <a:ln w="9525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640580" y="4959499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Enterprise Value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640580" y="5142379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1 110 801 €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434340" y="5544715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A5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 = FCF₂₀₂₉ × PER = 110 034 × 10 = 1 100 338 €   actualisée sur 5 ans = 779 507 € (soit 70 % de l'Enterprise Value)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726680" y="2084832"/>
            <a:ext cx="3959352" cy="310896"/>
          </a:xfrm>
          <a:prstGeom prst="roundRect">
            <a:avLst>
              <a:gd name="adj" fmla="val 20588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7818120" y="208483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- Multiple EBE × 4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726680" y="2450592"/>
            <a:ext cx="3959352" cy="457200"/>
          </a:xfrm>
          <a:prstGeom prst="roundRect">
            <a:avLst>
              <a:gd name="adj" fmla="val 14000"/>
            </a:avLst>
          </a:prstGeom>
          <a:solidFill>
            <a:srgbClr val="F3EBF8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7854696" y="24505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marché : </a:t>
            </a: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 secteur ~ 300 k€  ×  Multiple observé 4  =  1 200 k€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726680" y="2962656"/>
            <a:ext cx="566928" cy="274320"/>
          </a:xfrm>
          <a:prstGeom prst="rect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7726680" y="2962656"/>
            <a:ext cx="56692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293608" y="2962656"/>
            <a:ext cx="1005840" cy="274320"/>
          </a:xfrm>
          <a:prstGeom prst="rect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8293608" y="2962656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299448" y="2962656"/>
            <a:ext cx="512064" cy="274320"/>
          </a:xfrm>
          <a:prstGeom prst="rect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9299448" y="2962656"/>
            <a:ext cx="5120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9811512" y="2962656"/>
            <a:ext cx="1874520" cy="274320"/>
          </a:xfrm>
          <a:prstGeom prst="rect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9811512" y="2962656"/>
            <a:ext cx="1874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726680" y="3236976"/>
            <a:ext cx="56692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772668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293608" y="3236976"/>
            <a:ext cx="1005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8293608" y="3236976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279 625 €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299448" y="3236976"/>
            <a:ext cx="5120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9299448" y="3236976"/>
            <a:ext cx="51206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811512" y="3236976"/>
            <a:ext cx="1874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9811512" y="3236976"/>
            <a:ext cx="1874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1 118 500 €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726680" y="3493008"/>
            <a:ext cx="566928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 104"/>
          <p:cNvSpPr/>
          <p:nvPr/>
        </p:nvSpPr>
        <p:spPr>
          <a:xfrm>
            <a:off x="7726680" y="3493008"/>
            <a:ext cx="566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8293608" y="3493008"/>
            <a:ext cx="100584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8293608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305 586 €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9299448" y="3493008"/>
            <a:ext cx="512064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9299448" y="3493008"/>
            <a:ext cx="51206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9811512" y="3493008"/>
            <a:ext cx="187452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9811512" y="3493008"/>
            <a:ext cx="1874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1 222 344 €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7726680" y="3749040"/>
            <a:ext cx="56692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7726680" y="3749040"/>
            <a:ext cx="566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293608" y="3749040"/>
            <a:ext cx="1005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8293608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307 400 €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9299448" y="3749040"/>
            <a:ext cx="5120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Text 116"/>
          <p:cNvSpPr/>
          <p:nvPr/>
        </p:nvSpPr>
        <p:spPr>
          <a:xfrm>
            <a:off x="9299448" y="3749040"/>
            <a:ext cx="51206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9811512" y="3749040"/>
            <a:ext cx="1874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Text 118"/>
          <p:cNvSpPr/>
          <p:nvPr/>
        </p:nvSpPr>
        <p:spPr>
          <a:xfrm>
            <a:off x="9811512" y="3749040"/>
            <a:ext cx="1874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1 229 601 €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7726680" y="4005072"/>
            <a:ext cx="566928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Text 120"/>
          <p:cNvSpPr/>
          <p:nvPr/>
        </p:nvSpPr>
        <p:spPr>
          <a:xfrm>
            <a:off x="7726680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8293608" y="4005072"/>
            <a:ext cx="100584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Text 122"/>
          <p:cNvSpPr/>
          <p:nvPr/>
        </p:nvSpPr>
        <p:spPr>
          <a:xfrm>
            <a:off x="8293608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303 530 €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9299448" y="4005072"/>
            <a:ext cx="512064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9299448" y="4005072"/>
            <a:ext cx="51206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9811512" y="4005072"/>
            <a:ext cx="1874520" cy="256032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Text 126"/>
          <p:cNvSpPr/>
          <p:nvPr/>
        </p:nvSpPr>
        <p:spPr>
          <a:xfrm>
            <a:off x="9811512" y="4005072"/>
            <a:ext cx="1874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1 214 120 €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7781544" y="4572000"/>
            <a:ext cx="56692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Text 128"/>
          <p:cNvSpPr/>
          <p:nvPr/>
        </p:nvSpPr>
        <p:spPr>
          <a:xfrm>
            <a:off x="7781544" y="4572000"/>
            <a:ext cx="566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8348472" y="4572000"/>
            <a:ext cx="1005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Text 130"/>
          <p:cNvSpPr/>
          <p:nvPr/>
        </p:nvSpPr>
        <p:spPr>
          <a:xfrm>
            <a:off x="8348472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9354312" y="4572000"/>
            <a:ext cx="5120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Text 132"/>
          <p:cNvSpPr/>
          <p:nvPr/>
        </p:nvSpPr>
        <p:spPr>
          <a:xfrm>
            <a:off x="9354312" y="4572000"/>
            <a:ext cx="51206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9866376" y="4572000"/>
            <a:ext cx="1874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Text 134"/>
          <p:cNvSpPr/>
          <p:nvPr/>
        </p:nvSpPr>
        <p:spPr>
          <a:xfrm>
            <a:off x="9866376" y="4572000"/>
            <a:ext cx="1874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1 196 141 €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7781544" y="4663440"/>
            <a:ext cx="3959352" cy="1125230"/>
          </a:xfrm>
          <a:prstGeom prst="roundRect">
            <a:avLst>
              <a:gd name="adj" fmla="val 8000"/>
            </a:avLst>
          </a:prstGeom>
          <a:solidFill>
            <a:srgbClr val="E1F0E8"/>
          </a:solidFill>
          <a:ln w="12700">
            <a:solidFill>
              <a:srgbClr val="C9E2DF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7781544" y="4663440"/>
            <a:ext cx="3959352" cy="274320"/>
          </a:xfrm>
          <a:prstGeom prst="roundRect">
            <a:avLst>
              <a:gd name="adj" fmla="val 26667"/>
            </a:avLst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7781544" y="4800600"/>
            <a:ext cx="3959352" cy="137160"/>
          </a:xfrm>
          <a:prstGeom prst="rect">
            <a:avLst/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Text 138"/>
          <p:cNvSpPr/>
          <p:nvPr/>
        </p:nvSpPr>
        <p:spPr>
          <a:xfrm>
            <a:off x="7872984" y="466344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DES DEUX MÉTHODES</a:t>
            </a:r>
            <a:endParaRPr lang="en-US" sz="950" dirty="0"/>
          </a:p>
        </p:txBody>
      </p:sp>
      <p:sp>
        <p:nvSpPr>
          <p:cNvPr id="141" name="Text 139"/>
          <p:cNvSpPr/>
          <p:nvPr/>
        </p:nvSpPr>
        <p:spPr>
          <a:xfrm>
            <a:off x="7836408" y="4992624"/>
            <a:ext cx="126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7836408" y="5175504"/>
            <a:ext cx="126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1 110 801 €</a:t>
            </a:r>
            <a:endParaRPr lang="en-US" sz="1250" dirty="0"/>
          </a:p>
        </p:txBody>
      </p:sp>
      <p:sp>
        <p:nvSpPr>
          <p:cNvPr id="143" name="Shape 141"/>
          <p:cNvSpPr/>
          <p:nvPr/>
        </p:nvSpPr>
        <p:spPr>
          <a:xfrm>
            <a:off x="9137904" y="4974336"/>
            <a:ext cx="0" cy="475488"/>
          </a:xfrm>
          <a:prstGeom prst="line">
            <a:avLst/>
          </a:prstGeom>
          <a:noFill/>
          <a:ln w="9525">
            <a:solidFill>
              <a:srgbClr val="2E7A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Text 142"/>
          <p:cNvSpPr/>
          <p:nvPr/>
        </p:nvSpPr>
        <p:spPr>
          <a:xfrm>
            <a:off x="9183624" y="4992624"/>
            <a:ext cx="126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9183624" y="5175504"/>
            <a:ext cx="126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2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1 196 141 €</a:t>
            </a:r>
            <a:endParaRPr lang="en-US" sz="1250" dirty="0"/>
          </a:p>
        </p:txBody>
      </p:sp>
      <p:sp>
        <p:nvSpPr>
          <p:cNvPr id="146" name="Shape 144"/>
          <p:cNvSpPr/>
          <p:nvPr/>
        </p:nvSpPr>
        <p:spPr>
          <a:xfrm>
            <a:off x="10485120" y="4974336"/>
            <a:ext cx="0" cy="475488"/>
          </a:xfrm>
          <a:prstGeom prst="line">
            <a:avLst/>
          </a:prstGeom>
          <a:noFill/>
          <a:ln w="9525">
            <a:solidFill>
              <a:srgbClr val="2E7A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 145"/>
          <p:cNvSpPr/>
          <p:nvPr/>
        </p:nvSpPr>
        <p:spPr>
          <a:xfrm>
            <a:off x="10530840" y="4992624"/>
            <a:ext cx="126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10530840" y="5175504"/>
            <a:ext cx="126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7,7 %</a:t>
            </a:r>
            <a:endParaRPr lang="en-US" sz="1250" dirty="0"/>
          </a:p>
        </p:txBody>
      </p:sp>
      <p:sp>
        <p:nvSpPr>
          <p:cNvPr id="149" name="Text 147"/>
          <p:cNvSpPr/>
          <p:nvPr/>
        </p:nvSpPr>
        <p:spPr>
          <a:xfrm>
            <a:off x="7872984" y="5522976"/>
            <a:ext cx="3776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&lt; 8 % entre les deux méthodes indépendantes → évaluation robuste → prix retenu : 1 110 000 €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502920" y="64465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Text 150"/>
          <p:cNvSpPr/>
          <p:nvPr/>
        </p:nvSpPr>
        <p:spPr>
          <a:xfrm>
            <a:off x="502920" y="6446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AC34.01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1719072" y="632764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Résoudre les problèmes d'évaluation des actifs et passifs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7223760" y="63276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PRODUIRE GC2F </a:t>
            </a:r>
            <a:r>
              <a:rPr lang="en-US" sz="100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Optimiser l'information comptable, fiscale et sociale produite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PRODUIRE GC2F   ·   RÉSOUDRE LES PROBLÈMES D'ÉVALUATION DES ACTIFS ET PASSIFS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Résoudre trois problèmes méthodologiques pour produire une évaluation financièrement défendable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24160" y="493776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0" y="493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AC34.01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1F3089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valoriser une PME immobilière sans cotation boursière ni transaction comparable directement observable ? L'évaluation exige de résoudre des choix méthodologiques précis : taux d'actualisation, horizon, valeur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et une validation par méthode indépendante pour sécuriser le résultat.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5120640" cy="402336"/>
          </a:xfrm>
          <a:prstGeom prst="roundRect">
            <a:avLst>
              <a:gd name="adj" fmla="val 15909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572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96696" y="2304288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MÉTHODOLOGIQUE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33872" y="2304288"/>
            <a:ext cx="5852160" cy="402336"/>
          </a:xfrm>
          <a:prstGeom prst="roundRect">
            <a:avLst>
              <a:gd name="adj" fmla="val 15909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39572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27648" y="2304288"/>
            <a:ext cx="5266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APPORTÉE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2816352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67512" y="2907792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WACC : pour une PME privée, ni le coût des capitaux propres ni le bêta ne sont directement observables sur un marché.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660136" y="2816352"/>
            <a:ext cx="128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33872" y="2816352"/>
            <a:ext cx="5852160" cy="1042416"/>
          </a:xfrm>
          <a:prstGeom prst="roundRect">
            <a:avLst>
              <a:gd name="adj" fmla="val 614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5998464" y="2907792"/>
            <a:ext cx="55595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décomposé explicitement : Ke = 8 % (prime risque PME hors cotation) × 30 % + Kd = 6 % (taux bancaire effectif) × 70 % → WACC = 6,6 %. Chaque hypothèse justifiée et documentée.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3986784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67512" y="4078224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terminale : les FCF ne couvrent que 4 ans (2026–2029), mais la VT représente 70 % de </a:t>
            </a:r>
            <a:r>
              <a:rPr lang="en-US" sz="10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c'est le paramètre le plus sensible du modèle.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660136" y="3986784"/>
            <a:ext cx="128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833872" y="3986784"/>
            <a:ext cx="5852160" cy="1042416"/>
          </a:xfrm>
          <a:prstGeom prst="roundRect">
            <a:avLst>
              <a:gd name="adj" fmla="val 614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998464" y="4078224"/>
            <a:ext cx="55595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 10 retenu sur référence sectorielle PME immobilière. VT = FCF₂₀₂₉ × 10 = 1 100 338 €, actualisée = 779 507 €. La part élevée de la VT dans l'EV est assumée et explicitée dans le dossier.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02920" y="5157216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67512" y="5248656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résultat DCF : un DCF seul repose sur des hypothèses subjectives (taux, PER, FCF projetés). Sans benchmark, l'évaluation reste fragile et contestable.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660136" y="5157216"/>
            <a:ext cx="128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833872" y="5157216"/>
            <a:ext cx="5852160" cy="1042416"/>
          </a:xfrm>
          <a:prstGeom prst="roundRect">
            <a:avLst>
              <a:gd name="adj" fmla="val 614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5998464" y="5248656"/>
            <a:ext cx="55595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comparative indépendante : EBE × 4 → 1 196 141 €. Écart avec DCF : 85 341 € (7,7 %). Convergence en dessous de 10 % → robustesse validée → prix de reprise de 1 110 000 € retenu.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502920" y="64465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502920" y="6446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AC34.01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719072" y="632764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Résoudre les problèmes d'évaluation des actifs et passifs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223760" y="63276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PRODUIRE GC2F </a:t>
            </a:r>
            <a:r>
              <a:rPr lang="en-US" sz="100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Optimiser l'information comptable, fiscale et sociale produite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Custom</PresentationFormat>
  <Paragraphs>107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2</cp:revision>
  <dcterms:created xsi:type="dcterms:W3CDTF">2026-06-16T22:40:43Z</dcterms:created>
  <dcterms:modified xsi:type="dcterms:W3CDTF">2026-06-16T22:48:49Z</dcterms:modified>
</cp:coreProperties>
</file>