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5B8B4"/>
                </a:solidFill>
                <a:latin typeface="Calibri"/>
              </a:rPr>
              <a:t>COMPÉTENCE PRODUIRE GC2F   ·   RÉALISER UN DIAGNOSTIC / AUDIT POUR APPORTER DES CONSEILS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601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Diagnostiquer SFR / Altice France pour évaluer l'offre du consortium à 20 Md€ : décote de 24 % vs valeur centrale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280160" cy="50292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0" y="502920"/>
            <a:ext cx="12801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3089"/>
                </a:solidFill>
                <a:latin typeface="Calibri"/>
              </a:rPr>
              <a:t>AC34.03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74552" cy="411480"/>
          </a:xfrm>
          <a:prstGeom prst="roundRect">
            <a:avLst>
              <a:gd name="adj" fmla="val 15000"/>
            </a:avLst>
          </a:prstGeom>
          <a:solidFill>
            <a:srgbClr val="E8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00" b="1">
                <a:solidFill>
                  <a:srgbClr val="1F3089"/>
                </a:solidFill>
                <a:latin typeface="Calibri"/>
              </a:rPr>
              <a:t>Initiative personnelle · hors cursus   </a:t>
            </a:r>
            <a:r>
              <a:rPr sz="1100">
                <a:solidFill>
                  <a:srgbClr val="1A1B30"/>
                </a:solidFill>
                <a:latin typeface="Calibri"/>
              </a:rPr>
              <a:t>Rapport M&amp;A en autodidacte (avril 2026). Données : comptes IFRS Altice France 2022–2024. Méthode : DCF 3 scénarios + multiples comparables.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5486400" cy="411480"/>
          </a:xfrm>
          <a:prstGeom prst="roundRect">
            <a:avLst>
              <a:gd name="adj" fmla="val 15000"/>
            </a:avLst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🔍   DIAGNOSTIC : 3 RETRAITEMENTS CLÉS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325880" cy="292608"/>
          </a:xfrm>
          <a:prstGeom prst="roundRect">
            <a:avLst>
              <a:gd name="adj" fmla="val 30000"/>
            </a:avLst>
          </a:prstGeom>
          <a:solidFill>
            <a:srgbClr val="E6C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3258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00C66"/>
                </a:solidFill>
                <a:latin typeface="Calibri"/>
              </a:rPr>
              <a:t>EBIT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88920"/>
            <a:ext cx="370332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>
                <a:solidFill>
                  <a:srgbClr val="1A1B30"/>
                </a:solidFill>
                <a:latin typeface="Calibri"/>
              </a:rPr>
              <a:t>→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Normalisé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à ~650 M€ (vs 4 368 M€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publié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).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Neutralisation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des ~3 Md€ de cessions non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récurrentes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40"/>
            <a:ext cx="1325880" cy="292608"/>
          </a:xfrm>
          <a:prstGeom prst="roundRect">
            <a:avLst>
              <a:gd name="adj" fmla="val 30000"/>
            </a:avLst>
          </a:prstGeom>
          <a:solidFill>
            <a:srgbClr val="E6C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13258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00C66"/>
                </a:solidFill>
                <a:latin typeface="Calibri"/>
              </a:rPr>
              <a:t>Résultat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49040"/>
            <a:ext cx="370332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→ Écarté. Distorsions dérivés + plus-values. Base retenue : EBITDA ajusté = 3 429 M€.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9160"/>
            <a:ext cx="1325880" cy="292608"/>
          </a:xfrm>
          <a:prstGeom prst="roundRect">
            <a:avLst>
              <a:gd name="adj" fmla="val 30000"/>
            </a:avLst>
          </a:prstGeom>
          <a:solidFill>
            <a:srgbClr val="E6C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13258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00C66"/>
                </a:solidFill>
                <a:latin typeface="Calibri"/>
              </a:rPr>
              <a:t>BFR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09160"/>
            <a:ext cx="3703320" cy="4259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>
                <a:solidFill>
                  <a:srgbClr val="1A1B30"/>
                </a:solidFill>
                <a:latin typeface="Calibri"/>
              </a:rPr>
              <a:t>→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Hypothèse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normalisée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: </a:t>
            </a:r>
            <a:r>
              <a:rPr lang="fr-FR" sz="1050" b="0" i="0" dirty="0">
                <a:solidFill>
                  <a:srgbClr val="1A1B30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100 M€/an. Variation 2024 (+368 M€)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trompeuse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(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affacturage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inversé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148840"/>
            <a:ext cx="5486400" cy="411480"/>
          </a:xfrm>
          <a:prstGeom prst="roundRect">
            <a:avLst>
              <a:gd name="adj" fmla="val 15000"/>
            </a:avLst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214884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📊   RÉSULTATS DE LA VALORISATION (en M€)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265176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2834640"/>
            <a:ext cx="2377440" cy="36576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Méthode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834640"/>
            <a:ext cx="1051560" cy="36576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2834640"/>
            <a:ext cx="1051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34640"/>
            <a:ext cx="1051560" cy="36576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9800" y="2834640"/>
            <a:ext cx="1051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Bull / Bear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81360" y="2834640"/>
            <a:ext cx="868680" cy="36576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81360" y="2834640"/>
            <a:ext cx="868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Conseil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200400"/>
            <a:ext cx="2377440" cy="384048"/>
          </a:xfrm>
          <a:prstGeom prst="rect">
            <a:avLst/>
          </a:prstGeom>
          <a:solidFill>
            <a:srgbClr val="F0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200400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DCF (WACC 6,66–7,09 %)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3200400"/>
            <a:ext cx="1051560" cy="384048"/>
          </a:xfrm>
          <a:prstGeom prst="rect">
            <a:avLst/>
          </a:prstGeom>
          <a:solidFill>
            <a:srgbClr val="F0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3200400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26 457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3200400"/>
            <a:ext cx="1051560" cy="384048"/>
          </a:xfrm>
          <a:prstGeom prst="rect">
            <a:avLst/>
          </a:prstGeom>
          <a:solidFill>
            <a:srgbClr val="F0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3200400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17 857 / 35 567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81360" y="3200400"/>
            <a:ext cx="868680" cy="384048"/>
          </a:xfrm>
          <a:prstGeom prst="rect">
            <a:avLst/>
          </a:prstGeom>
          <a:solidFill>
            <a:srgbClr val="F0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81360" y="3200400"/>
            <a:ext cx="8686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84448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584448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Multiples (médiane 8,85×)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584448"/>
            <a:ext cx="1051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0" y="3584448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30 333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3584448"/>
            <a:ext cx="1051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29800" y="3584448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28 991 / 40 341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81360" y="3584448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881360" y="3584448"/>
            <a:ext cx="8686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00800" y="3968496"/>
            <a:ext cx="2377440" cy="384048"/>
          </a:xfrm>
          <a:prstGeom prst="rect">
            <a:avLst/>
          </a:prstGeom>
          <a:solidFill>
            <a:srgbClr val="E8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3968496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400C66"/>
                </a:solidFill>
                <a:latin typeface="Calibri"/>
              </a:rPr>
              <a:t>EV retenue (moy. 50/50)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968496"/>
            <a:ext cx="1051560" cy="384048"/>
          </a:xfrm>
          <a:prstGeom prst="rect">
            <a:avLst/>
          </a:prstGeom>
          <a:solidFill>
            <a:srgbClr val="E8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78240" y="3968496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400C66"/>
                </a:solidFill>
                <a:latin typeface="Calibri"/>
              </a:rPr>
              <a:t>28 395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3968496"/>
            <a:ext cx="1051560" cy="384048"/>
          </a:xfrm>
          <a:prstGeom prst="rect">
            <a:avLst/>
          </a:prstGeom>
          <a:solidFill>
            <a:srgbClr val="E8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9800" y="3968496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400C66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81360" y="3968496"/>
            <a:ext cx="868680" cy="384048"/>
          </a:xfrm>
          <a:prstGeom prst="rect">
            <a:avLst/>
          </a:prstGeom>
          <a:solidFill>
            <a:srgbClr val="E8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881360" y="3968496"/>
            <a:ext cx="8686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00800" y="4352544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4352544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Offre consortium (jan. 26)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4352544"/>
            <a:ext cx="1051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78240" y="4352544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0392B"/>
                </a:solidFill>
                <a:latin typeface="Calibri"/>
              </a:rPr>
              <a:t>20 000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4352544"/>
            <a:ext cx="1051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29800" y="4352544"/>
            <a:ext cx="10515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81360" y="4352544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881360" y="4438641"/>
            <a:ext cx="868680" cy="21185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fr-FR" sz="1050" b="1" i="0" dirty="0">
                <a:solidFill>
                  <a:srgbClr val="C0392B"/>
                </a:solidFill>
                <a:latin typeface="Calibri"/>
              </a:rPr>
              <a:t>-</a:t>
            </a:r>
            <a:r>
              <a:rPr sz="1050" b="1" i="0" dirty="0">
                <a:solidFill>
                  <a:srgbClr val="C0392B"/>
                </a:solidFill>
                <a:latin typeface="Calibri"/>
              </a:rPr>
              <a:t>24 %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828032"/>
            <a:ext cx="51206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00C66"/>
                </a:solidFill>
                <a:latin typeface="Calibri"/>
              </a:rPr>
              <a:t>Conseil au consortium : prix raisonnable 24–27 Md€ pour préserver la création de valeur post-synergies.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5943600"/>
            <a:ext cx="225491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10,4 Md€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Revenus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12110" y="5943600"/>
            <a:ext cx="225491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3 429 M€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EBITDA ajusté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67020" y="5943600"/>
            <a:ext cx="225491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1 334 M€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OpFCF 2024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1930" y="5943600"/>
            <a:ext cx="225491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~15,5 Md€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Dette nette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76840" y="5943600"/>
            <a:ext cx="225491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~3,2 Md€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Obligations IFRS 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65760" y="6556248"/>
            <a:ext cx="1005840" cy="246888"/>
          </a:xfrm>
          <a:prstGeom prst="roundRect">
            <a:avLst>
              <a:gd name="adj" fmla="val 25000"/>
            </a:avLst>
          </a:prstGeom>
          <a:solidFill>
            <a:srgbClr val="65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6556248"/>
            <a:ext cx="100584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F3089"/>
                </a:solidFill>
                <a:latin typeface="Calibri"/>
              </a:rPr>
              <a:t>AC34.03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8760" y="6556248"/>
            <a:ext cx="640080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Georgia"/>
              </a:rPr>
              <a:t>Réaliser un diagnostic / audit pour apporter des conseils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6556248"/>
            <a:ext cx="384048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Compétence PRODUIRE GC2F · Initiative autodidacte · Hors cursus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5B8B4"/>
                </a:solidFill>
                <a:latin typeface="Calibri"/>
              </a:rPr>
              <a:t>COMPÉTENCE PRODUIRE GC2F   ·   RÉALISER UN DIAGNOSTIC / AUDIT POUR APPORTER DES CONSEILS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601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Démarche d'audit M&amp;A : du diagnostic financier au conseil de négociation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280160" cy="50292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0" y="502920"/>
            <a:ext cx="12801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3089"/>
                </a:solidFill>
                <a:latin typeface="Calibri"/>
              </a:rPr>
              <a:t>AC34.03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65B8B4"/>
                </a:solidFill>
                <a:latin typeface="Calibri"/>
              </a:rPr>
              <a:t>PROBLÉMATIQUE   </a:t>
            </a:r>
            <a:r>
              <a:rPr sz="1100">
                <a:solidFill>
                  <a:srgbClr val="FFFFFF"/>
                </a:solidFill>
                <a:latin typeface="Calibri"/>
              </a:rPr>
              <a:t>Comment auditer la valeur d'un actif télécom de plusieurs dizaines de Md€ à partir des seules sources publiques, pour conseiller le consortium acquéreur sans accès à la data room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2695194" cy="777240"/>
          </a:xfrm>
          <a:prstGeom prst="roundRect">
            <a:avLst>
              <a:gd name="adj" fmla="val 8000"/>
            </a:avLst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87168"/>
            <a:ext cx="1826514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COLLECTE &amp; AUDIT</a:t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Identifier les distorsions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269519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337560"/>
            <a:ext cx="2366010" cy="8601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dirty="0" err="1">
                <a:solidFill>
                  <a:srgbClr val="1A1B30"/>
                </a:solidFill>
                <a:latin typeface="Calibri"/>
              </a:rPr>
              <a:t>Retraitement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EBIT (+3 Md€ de cessions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neutralisés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),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résultat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net écarté, BFR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normalisé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à </a:t>
            </a:r>
            <a:r>
              <a:rPr lang="fr-FR" sz="1050" b="0" i="0" dirty="0">
                <a:solidFill>
                  <a:srgbClr val="1A1B30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100 M€/an. Base saine avant toute projection.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6986" y="2377440"/>
            <a:ext cx="2695194" cy="777240"/>
          </a:xfrm>
          <a:prstGeom prst="roundRect">
            <a:avLst>
              <a:gd name="adj" fmla="val 8000"/>
            </a:avLst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54146" y="2514600"/>
            <a:ext cx="502920" cy="502920"/>
          </a:xfrm>
          <a:prstGeom prst="ellipse">
            <a:avLst/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4146" y="25146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8506" y="2487168"/>
            <a:ext cx="1826514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ANALYSE HISTORIQUE</a:t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Diagnostiquer la trajectoire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6986" y="3246120"/>
            <a:ext cx="269519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81578" y="3337560"/>
            <a:ext cx="2366010" cy="8601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dirty="0">
                <a:solidFill>
                  <a:srgbClr val="1A1B30"/>
                </a:solidFill>
                <a:latin typeface="Calibri"/>
              </a:rPr>
              <a:t>CA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en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recul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de </a:t>
            </a:r>
            <a:r>
              <a:rPr lang="fr-FR" sz="1050" b="0" i="0" dirty="0">
                <a:solidFill>
                  <a:srgbClr val="1A1B30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8,9 % sur 2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ans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, EBITDA </a:t>
            </a:r>
            <a:r>
              <a:rPr lang="fr-FR" sz="1050" b="0" i="0" dirty="0">
                <a:solidFill>
                  <a:srgbClr val="1A1B30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13,2 %,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perte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de 1,5 M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abonnés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mobiles.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Profitabilité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fragile,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dette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B30"/>
                </a:solidFill>
                <a:latin typeface="Calibri"/>
              </a:rPr>
              <a:t>résiduelle</a:t>
            </a:r>
            <a:r>
              <a:rPr sz="1050" b="0" i="0" dirty="0">
                <a:solidFill>
                  <a:srgbClr val="1A1B30"/>
                </a:solidFill>
                <a:latin typeface="Calibri"/>
              </a:rPr>
              <a:t> de ~15,5 Md€.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6772" y="2377440"/>
            <a:ext cx="2695194" cy="777240"/>
          </a:xfrm>
          <a:prstGeom prst="roundRect">
            <a:avLst>
              <a:gd name="adj" fmla="val 8000"/>
            </a:avLst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13932" y="2514600"/>
            <a:ext cx="502920" cy="502920"/>
          </a:xfrm>
          <a:prstGeom prst="ellipse">
            <a:avLst/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3932" y="25146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8292" y="2487168"/>
            <a:ext cx="1826514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MODÉLISATION</a:t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Construire les scénarios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6772" y="3246120"/>
            <a:ext cx="269519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1364" y="3337560"/>
            <a:ext cx="2366010" cy="1325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3 scénarios Bear / Base / Bull sur 2025–2029. DCF (WACC 6,66–7,09 %, bêta ré-endetté par Hamada) + multiples comparables (médiane 8,85× EBITDA).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6558" y="2377440"/>
            <a:ext cx="2695194" cy="777240"/>
          </a:xfrm>
          <a:prstGeom prst="roundRect">
            <a:avLst>
              <a:gd name="adj" fmla="val 8000"/>
            </a:avLst>
          </a:prstGeom>
          <a:solidFill>
            <a:srgbClr val="1F3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3718" y="2514600"/>
            <a:ext cx="502920" cy="502920"/>
          </a:xfrm>
          <a:prstGeom prst="ellipse">
            <a:avLst/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3718" y="25146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8078" y="2487168"/>
            <a:ext cx="1826514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CONSEIL</a:t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Formuler l'avis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6558" y="3246120"/>
            <a:ext cx="269519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1150" y="3337560"/>
            <a:ext cx="2366010" cy="1325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B30"/>
                </a:solidFill>
                <a:latin typeface="Calibri"/>
              </a:rPr>
              <a:t>EV retenue : 28,4 Md€ (Base). Offre 20 Md€ = décote de 24 %. Conseil : prix raisonnable 24–27 Md€ pour préserver la création de valeur post-synergies.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37760"/>
            <a:ext cx="11274552" cy="1417320"/>
          </a:xfrm>
          <a:prstGeom prst="roundRect">
            <a:avLst>
              <a:gd name="adj" fmla="val 6000"/>
            </a:avLst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5B8B4"/>
                </a:solidFill>
                <a:latin typeface="Calibri"/>
              </a:rPr>
              <a:t>💡  CONSEIL CHIFFRÉ AU CONSORTIUM ACQUÉREUR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94960"/>
            <a:ext cx="37581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28,4 Md€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00" b="0" i="0">
                <a:solidFill>
                  <a:srgbClr val="65B8B4"/>
                </a:solidFill>
                <a:latin typeface="Calibri"/>
              </a:rPr>
              <a:t>EV centrale retenue (DCF + multiples)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5394960"/>
            <a:ext cx="3758184" cy="61837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4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24 %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00" b="0" i="0" dirty="0" err="1">
                <a:solidFill>
                  <a:srgbClr val="65B8B4"/>
                </a:solidFill>
                <a:latin typeface="Calibri"/>
              </a:rPr>
              <a:t>Décote</a:t>
            </a:r>
            <a:r>
              <a:rPr sz="1000" b="0" i="0" dirty="0">
                <a:solidFill>
                  <a:srgbClr val="65B8B4"/>
                </a:solidFill>
                <a:latin typeface="Calibri"/>
              </a:rPr>
              <a:t> de </a:t>
            </a:r>
            <a:r>
              <a:rPr sz="1000" b="0" i="0" dirty="0" err="1">
                <a:solidFill>
                  <a:srgbClr val="65B8B4"/>
                </a:solidFill>
                <a:latin typeface="Calibri"/>
              </a:rPr>
              <a:t>l'offre</a:t>
            </a:r>
            <a:r>
              <a:rPr sz="1000" b="0" i="0" dirty="0">
                <a:solidFill>
                  <a:srgbClr val="65B8B4"/>
                </a:solidFill>
                <a:latin typeface="Calibri"/>
              </a:rPr>
              <a:t> à 20 Md€ vs EV centrale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5394960"/>
            <a:ext cx="37581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24 – 27 Md€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00" b="0" i="0">
                <a:solidFill>
                  <a:srgbClr val="65B8B4"/>
                </a:solidFill>
                <a:latin typeface="Calibri"/>
              </a:rPr>
              <a:t>Prix raisonnable conseillé au consortium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00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65760" y="6556248"/>
            <a:ext cx="1005840" cy="246888"/>
          </a:xfrm>
          <a:prstGeom prst="roundRect">
            <a:avLst>
              <a:gd name="adj" fmla="val 25000"/>
            </a:avLst>
          </a:prstGeom>
          <a:solidFill>
            <a:srgbClr val="65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556248"/>
            <a:ext cx="100584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F3089"/>
                </a:solidFill>
                <a:latin typeface="Calibri"/>
              </a:rPr>
              <a:t>AC34.03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556248"/>
            <a:ext cx="640080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Georgia"/>
              </a:rPr>
              <a:t>Réaliser un diagnostic / audit pour apporter des conseils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556248"/>
            <a:ext cx="384048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5B8B4"/>
                </a:solidFill>
                <a:latin typeface="Calibri"/>
              </a:rPr>
              <a:t>Compétence PRODUIRE GC2F · Initiative autodidacte · Hors cursus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Widescreen</PresentationFormat>
  <Paragraphs>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Oscar Rousset</dc:creator>
  <cp:keywords/>
  <dc:description>generated using python-pptx</dc:description>
  <cp:lastModifiedBy>Oscar Rousset</cp:lastModifiedBy>
  <cp:revision>2</cp:revision>
  <dcterms:created xsi:type="dcterms:W3CDTF">2013-01-27T09:14:16Z</dcterms:created>
  <dcterms:modified xsi:type="dcterms:W3CDTF">2026-06-17T10:08:10Z</dcterms:modified>
  <cp:category/>
</cp:coreProperties>
</file>